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edoka" panose="02000000000000000000" charset="1"/>
      <p:regular r:id="rId22"/>
    </p:embeddedFont>
    <p:embeddedFont>
      <p:font typeface="Nunito Bold" panose="00000000000000000000" charset="1"/>
      <p:regular r:id="rId23"/>
    </p:embeddedFont>
    <p:embeddedFont>
      <p:font typeface="Baloo" panose="03080902040302020200" charset="1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notesMaster" Target="/ppt/notesMasters/notesMaster1.xml" Id="rId19" /><Relationship Type="http://schemas.openxmlformats.org/officeDocument/2006/relationships/presProps" Target="/ppt/presProps.xml" Id="rId2" /><Relationship Type="http://schemas.openxmlformats.org/officeDocument/2006/relationships/theme" Target="/ppt/theme/theme2.xml" Id="rId20" /><Relationship Type="http://schemas.openxmlformats.org/officeDocument/2006/relationships/notesSlide" Target="/ppt/notesSlides/notesSlide1.xml" Id="rId21" /><Relationship Type="http://schemas.openxmlformats.org/officeDocument/2006/relationships/font" Target="/ppt/fonts/font22.fntdata" Id="rId22" /><Relationship Type="http://schemas.openxmlformats.org/officeDocument/2006/relationships/font" Target="/ppt/fonts/font23.fntdata" Id="rId23" /><Relationship Type="http://schemas.openxmlformats.org/officeDocument/2006/relationships/font" Target="/ppt/fonts/font24.fntdata" Id="rId24" /><Relationship Type="http://schemas.openxmlformats.org/officeDocument/2006/relationships/notesSlide" Target="/ppt/notesSlides/notesSlide2.xml" Id="rId25" /><Relationship Type="http://schemas.openxmlformats.org/officeDocument/2006/relationships/notesSlide" Target="/ppt/notesSlides/notesSlide3.xml" Id="rId26" /><Relationship Type="http://schemas.openxmlformats.org/officeDocument/2006/relationships/notesSlide" Target="/ppt/notesSlides/notesSlide4.xml" Id="rId27" /><Relationship Type="http://schemas.openxmlformats.org/officeDocument/2006/relationships/notesSlide" Target="/ppt/notesSlides/notesSlide5.xml" Id="rId28" /><Relationship Type="http://schemas.openxmlformats.org/officeDocument/2006/relationships/notesSlide" Target="/ppt/notesSlides/notesSlide6.xml" Id="rId29" /><Relationship Type="http://schemas.openxmlformats.org/officeDocument/2006/relationships/viewProps" Target="/ppt/viewProps.xml" Id="rId3" /><Relationship Type="http://schemas.openxmlformats.org/officeDocument/2006/relationships/notesSlide" Target="/ppt/notesSlides/notesSlide7.xml" Id="rId30" /><Relationship Type="http://schemas.openxmlformats.org/officeDocument/2006/relationships/notesSlide" Target="/ppt/notesSlides/notesSlide8.xml" Id="rId31" /><Relationship Type="http://schemas.openxmlformats.org/officeDocument/2006/relationships/notesSlide" Target="/ppt/notesSlides/notesSlide9.xml" Id="rId32" /><Relationship Type="http://schemas.openxmlformats.org/officeDocument/2006/relationships/notesSlide" Target="/ppt/notesSlides/notesSlide10.xml" Id="rId33" /><Relationship Type="http://schemas.openxmlformats.org/officeDocument/2006/relationships/notesSlide" Target="/ppt/notesSlides/notesSlide11.xml" Id="rId34" /><Relationship Type="http://schemas.openxmlformats.org/officeDocument/2006/relationships/notesSlide" Target="/ppt/notesSlides/notesSlide12.xml" Id="rId35" /><Relationship Type="http://schemas.openxmlformats.org/officeDocument/2006/relationships/notesSlide" Target="/ppt/notesSlides/notesSlide13.xml" Id="rId36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1.xml" Id="rI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2.xml" Id="rI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3.xml" Id="rId2" 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Hello everyone! Welcome back! I am Teacher [Name]. Let's say hello to our friends!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Today we have a new letter! Listen: B. Say: B! [Cup ear]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Watch my mouth. [Point to lips] /b/, /b/, /b/. Press your lips together. Can you say /b/? [Wait for response]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B is for Bird! Listen: /b/ - /b/ - Bird! Say it with me: /b/ - /b/ - Bird!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Let's fly like a bird! [Flap arms] Now let's sing! Tweet, tweet! /b/ - /b/ - Bird!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Magic finger! Let's write big B. Line straight down. [Trace down] Now around, and around! [Make two curves] You do it!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Now small b! Line straight down. [Trace down] And one circle around! [Make a bottom curve] Good job!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Do we yell at the bird? No! The bird will fly away. We stay quiet. Shh. [Finger to lips] We use gentle eyes to look.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Who made the birds to fly high? God made the birds! God gave them wings. [Flap arms once]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Pop the bubbles! Only pop the letter B! Touch B! [Wait for taps] Pop! Pop! Great job!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Stand up! Show me your best bird! Fly around your room! /b/ /b/ Bird! [Watch and laugh with the student]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Let's practice one more time. Say: B! Say: /b/ - /b/ - Bird! Excellent!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script: Another Eco-Drop! The bird is happy in your garden. Great job today! Goodbye! [Wave]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.xml" Id="rId2" /><Relationship Type="http://schemas.openxmlformats.org/officeDocument/2006/relationships/image" Target="/ppt/media/image1.jpeg" Id="rId3" /><Relationship Type="http://schemas.openxmlformats.org/officeDocument/2006/relationships/image" Target="/ppt/media/image2.jpe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2.xml" Id="rId2" /><Relationship Type="http://schemas.openxmlformats.org/officeDocument/2006/relationships/image" Target="/ppt/media/image3.jpeg" Id="rId3" /><Relationship Type="http://schemas.openxmlformats.org/officeDocument/2006/relationships/image" Target="/ppt/media/image2.jpe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3.xml" Id="rId2" /><Relationship Type="http://schemas.openxmlformats.org/officeDocument/2006/relationships/image" Target="/ppt/media/image3.jpeg" Id="rId3" /><Relationship Type="http://schemas.openxmlformats.org/officeDocument/2006/relationships/image" Target="/ppt/media/image2.jpe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4.xml" Id="rId2" /><Relationship Type="http://schemas.openxmlformats.org/officeDocument/2006/relationships/image" Target="/ppt/media/image4.jpeg" Id="rId3" /><Relationship Type="http://schemas.openxmlformats.org/officeDocument/2006/relationships/image" Target="/ppt/media/image2.jpe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5.xml" Id="rId2" /><Relationship Type="http://schemas.openxmlformats.org/officeDocument/2006/relationships/image" Target="/ppt/media/image5.jpeg" Id="rId3" /><Relationship Type="http://schemas.openxmlformats.org/officeDocument/2006/relationships/image" Target="/ppt/media/image2.jpe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6.xml" Id="rId2" /><Relationship Type="http://schemas.openxmlformats.org/officeDocument/2006/relationships/image" Target="/ppt/media/image6.jpeg" Id="rId3" /><Relationship Type="http://schemas.openxmlformats.org/officeDocument/2006/relationships/image" Target="/ppt/media/image2.jpe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7.xml" Id="rId2" /><Relationship Type="http://schemas.openxmlformats.org/officeDocument/2006/relationships/image" Target="/ppt/media/image7.jpeg" Id="rId3" /><Relationship Type="http://schemas.openxmlformats.org/officeDocument/2006/relationships/image" Target="/ppt/media/image2.jpe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8.xml" Id="rId2" /><Relationship Type="http://schemas.openxmlformats.org/officeDocument/2006/relationships/image" Target="/ppt/media/image8.jpeg" Id="rId3" /><Relationship Type="http://schemas.openxmlformats.org/officeDocument/2006/relationships/image" Target="/ppt/media/image2.jpe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9.xml" Id="rId2" /><Relationship Type="http://schemas.openxmlformats.org/officeDocument/2006/relationships/image" Target="/ppt/media/image9.jpeg" Id="rId3" /><Relationship Type="http://schemas.openxmlformats.org/officeDocument/2006/relationships/image" Target="/ppt/media/image2.jpeg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0.xml" Id="rId2" /><Relationship Type="http://schemas.openxmlformats.org/officeDocument/2006/relationships/image" Target="/ppt/media/image10.jpeg" Id="rId3" /><Relationship Type="http://schemas.openxmlformats.org/officeDocument/2006/relationships/image" Target="/ppt/media/image2.jpe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1.xml" Id="rId2" /><Relationship Type="http://schemas.openxmlformats.org/officeDocument/2006/relationships/image" Target="/ppt/media/image11.jpeg" Id="rId3" /><Relationship Type="http://schemas.openxmlformats.org/officeDocument/2006/relationships/image" Target="/ppt/media/image2.jpe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2.xml" Id="rId2" /><Relationship Type="http://schemas.openxmlformats.org/officeDocument/2006/relationships/image" Target="/ppt/media/image12.jpeg" Id="rId3" /><Relationship Type="http://schemas.openxmlformats.org/officeDocument/2006/relationships/image" Target="/ppt/media/image2.jpe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3.xml" Id="rId2" /><Relationship Type="http://schemas.openxmlformats.org/officeDocument/2006/relationships/image" Target="/ppt/media/image13.jpeg" Id="rId3" /><Relationship Type="http://schemas.openxmlformats.org/officeDocument/2006/relationships/image" Target="/ppt/media/image2.jpeg" Id="rId4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3240343" cy="1409703"/>
            <a:chOff x="0" y="0"/>
            <a:chExt cx="17653791" cy="1879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53791" cy="1879605"/>
            </a:xfrm>
            <a:custGeom>
              <a:avLst/>
              <a:gdLst/>
              <a:ahLst/>
              <a:cxnLst/>
              <a:rect r="r" b="b" t="t" l="l"/>
              <a:pathLst>
                <a:path h="1879605" w="17653791">
                  <a:moveTo>
                    <a:pt x="0" y="0"/>
                  </a:moveTo>
                  <a:lnTo>
                    <a:pt x="17653791" y="0"/>
                  </a:lnTo>
                  <a:lnTo>
                    <a:pt x="17653791" y="1879605"/>
                  </a:lnTo>
                  <a:lnTo>
                    <a:pt x="0" y="1879605"/>
                  </a:lnTo>
                  <a:close/>
                </a:path>
              </a:pathLst>
            </a:custGeom>
            <a:solidFill>
              <a:srgbClr val="FFFFFF">
                <a:alpha val="7411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653791" cy="191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2950" y="371475"/>
            <a:ext cx="1273646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153F4B">
                    <a:alpha val="80000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LESSON 7 - LETTER B IS FOR BIRD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97250" y="409575"/>
            <a:ext cx="1476375" cy="457200"/>
            <a:chOff x="0" y="0"/>
            <a:chExt cx="19685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85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68500">
                  <a:moveTo>
                    <a:pt x="304800" y="0"/>
                  </a:moveTo>
                  <a:lnTo>
                    <a:pt x="1663700" y="0"/>
                  </a:lnTo>
                  <a:cubicBezTo>
                    <a:pt x="1832036" y="0"/>
                    <a:pt x="1968500" y="136464"/>
                    <a:pt x="1968500" y="304800"/>
                  </a:cubicBezTo>
                  <a:lnTo>
                    <a:pt x="1968500" y="304800"/>
                  </a:lnTo>
                  <a:cubicBezTo>
                    <a:pt x="1968500" y="473136"/>
                    <a:pt x="1832036" y="609600"/>
                    <a:pt x="1663700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079EB2">
                <a:alpha val="8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685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 / 13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Hello!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2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752475"/>
              <a:ext cx="9271000" cy="1802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sz="9600">
                  <a:solidFill>
                    <a:srgbClr val="079EB2"/>
                  </a:solidFill>
                  <a:latin typeface="Baloo"/>
                  <a:ea typeface="Baloo"/>
                  <a:cs typeface="Baloo"/>
                  <a:sym typeface="Baloo"/>
                </a:rPr>
                <a:t>Bb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3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752475"/>
              <a:ext cx="9271000" cy="1802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sz="9600">
                  <a:solidFill>
                    <a:srgbClr val="079EB2"/>
                  </a:solidFill>
                  <a:latin typeface="Baloo"/>
                  <a:ea typeface="Baloo"/>
                  <a:cs typeface="Baloo"/>
                  <a:sym typeface="Baloo"/>
                </a:rPr>
                <a:t>/b/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4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B is for Bird.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5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Tweet, tweet!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6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Draw B.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7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Draw b.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8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10572750" cy="2095500"/>
            <a:chOff x="0" y="0"/>
            <a:chExt cx="14097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4097000" cy="2794000"/>
              <a:chOff x="0" y="0"/>
              <a:chExt cx="14097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097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4097000">
                    <a:moveTo>
                      <a:pt x="0" y="0"/>
                    </a:moveTo>
                    <a:lnTo>
                      <a:pt x="14097000" y="0"/>
                    </a:lnTo>
                    <a:lnTo>
                      <a:pt x="14097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4097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12954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Be quiet and gentle.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9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10572750" cy="2095500"/>
            <a:chOff x="0" y="0"/>
            <a:chExt cx="14097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4097000" cy="2794000"/>
              <a:chOff x="0" y="0"/>
              <a:chExt cx="14097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097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4097000">
                    <a:moveTo>
                      <a:pt x="0" y="0"/>
                    </a:moveTo>
                    <a:lnTo>
                      <a:pt x="14097000" y="0"/>
                    </a:lnTo>
                    <a:lnTo>
                      <a:pt x="14097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4097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12954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God made the birds.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10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Pop the B!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11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Your turn!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12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9E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Bb. Bird.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E9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0050" y="266700"/>
            <a:ext cx="17487900" cy="723900"/>
            <a:chOff x="0" y="0"/>
            <a:chExt cx="23317200" cy="9652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317200" cy="965200"/>
              <a:chOff x="0" y="0"/>
              <a:chExt cx="23317200" cy="965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17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23317200">
                    <a:moveTo>
                      <a:pt x="0" y="0"/>
                    </a:moveTo>
                    <a:lnTo>
                      <a:pt x="23317200" y="0"/>
                    </a:lnTo>
                    <a:lnTo>
                      <a:pt x="23317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FFF">
                  <a:alpha val="74118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3317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7200" y="254000"/>
              <a:ext cx="165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53F4B">
                      <a:alpha val="80000"/>
                    </a:srgbClr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Lesson 7 – Letter B is for Bird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0929600" y="190500"/>
              <a:ext cx="1968500" cy="609600"/>
              <a:chOff x="0" y="0"/>
              <a:chExt cx="19685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685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968500">
                    <a:moveTo>
                      <a:pt x="304800" y="0"/>
                    </a:moveTo>
                    <a:lnTo>
                      <a:pt x="1663700" y="0"/>
                    </a:lnTo>
                    <a:cubicBezTo>
                      <a:pt x="1832036" y="0"/>
                      <a:pt x="1968500" y="136464"/>
                      <a:pt x="1968500" y="304800"/>
                    </a:cubicBezTo>
                    <a:lnTo>
                      <a:pt x="1968500" y="304800"/>
                    </a:lnTo>
                    <a:cubicBezTo>
                      <a:pt x="1968500" y="473136"/>
                      <a:pt x="1832036" y="609600"/>
                      <a:pt x="16637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079EB2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68500" cy="63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13 / 13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857250" y="6572250"/>
            <a:ext cx="7810500" cy="2095500"/>
            <a:chOff x="0" y="0"/>
            <a:chExt cx="10414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414000" cy="2794000"/>
              <a:chOff x="0" y="0"/>
              <a:chExt cx="10414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14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414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28600" cy="2794000"/>
              <a:chOff x="0" y="0"/>
              <a:chExt cx="228600" cy="279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FD9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685800"/>
              <a:ext cx="9271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>
                  <a:solidFill>
                    <a:srgbClr val="153F4B"/>
                  </a:solidFill>
                  <a:latin typeface="Baloo"/>
                  <a:ea typeface="Baloo"/>
                  <a:cs typeface="Baloo"/>
                  <a:sym typeface="Baloo"/>
                </a:rPr>
                <a:t>Goodbye!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54000" y="8953500"/>
            <a:ext cx="4314825" cy="1028700"/>
            <a:chOff x="0" y="0"/>
            <a:chExt cx="5753100" cy="1371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68300"/>
              <a:ext cx="406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8150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DAHT2OS3Ibs</dc:identifier>
  <dcterms:modified xsi:type="dcterms:W3CDTF">2011-08-01T06:04:30Z</dcterms:modified>
  <cp:revision>1</cp:revision>
  <dc:title>RemoEd L1M1 Lesson 7</dc:title>
</cp:coreProperties>
</file>