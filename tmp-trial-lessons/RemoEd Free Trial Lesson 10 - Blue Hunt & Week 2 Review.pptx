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fntdata" ContentType="application/x-fontdata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7.xml" ContentType="application/vnd.openxmlformats-officedocument.presentationml.slideLayou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Id1" /><Relationship Type="http://schemas.openxmlformats.org/package/2006/relationships/metadata/thumbnail" Target="/docProps/thumbnail.jpeg" Id="rId2" /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true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Baloo" panose="03080902040302020200" charset="1"/>
      <p:regular r:id="rId18"/>
    </p:embeddedFont>
    <p:embeddedFont>
      <p:font typeface="Fredoka" panose="02000000000000000000" charset="1"/>
      <p:regular r:id="rId19"/>
    </p:embeddedFont>
    <p:embeddedFont>
      <p:font typeface="Nunito Bold" panose="00000000000000000000" charset="1"/>
      <p:regular r:id="rId20"/>
    </p:embeddedFont>
    <p:embeddedFont>
      <p:font typeface="Nunito" panose="00000000000000000000" charset="1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slide" Target="/ppt/slides/slide10.xml" Id="rId15" /><Relationship Type="http://schemas.openxmlformats.org/officeDocument/2006/relationships/slide" Target="/ppt/slides/slide11.xml" Id="rId16" /><Relationship Type="http://schemas.openxmlformats.org/officeDocument/2006/relationships/slide" Target="/ppt/slides/slide12.xml" Id="rId17" /><Relationship Type="http://schemas.openxmlformats.org/officeDocument/2006/relationships/font" Target="/ppt/fonts/font18.fntdata" Id="rId18" /><Relationship Type="http://schemas.openxmlformats.org/officeDocument/2006/relationships/font" Target="/ppt/fonts/font19.fntdata" Id="rId19" /><Relationship Type="http://schemas.openxmlformats.org/officeDocument/2006/relationships/presProps" Target="/ppt/presProps.xml" Id="rId2" /><Relationship Type="http://schemas.openxmlformats.org/officeDocument/2006/relationships/font" Target="/ppt/fonts/font20.fntdata" Id="rId20" /><Relationship Type="http://schemas.openxmlformats.org/officeDocument/2006/relationships/font" Target="/ppt/fonts/font21.fntdata" Id="rId21" /><Relationship Type="http://schemas.openxmlformats.org/officeDocument/2006/relationships/viewProps" Target="/ppt/viewProps.xml" Id="rId3" /><Relationship Type="http://schemas.openxmlformats.org/officeDocument/2006/relationships/theme" Target="/ppt/theme/theme1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2" /><Relationship Type="http://schemas.openxmlformats.org/officeDocument/2006/relationships/slideLayout" Target="/ppt/slideLayouts/slideLayout7.xml" Id="rId7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.jpeg" Id="rId2" /><Relationship Type="http://schemas.openxmlformats.org/officeDocument/2006/relationships/image" Target="/ppt/media/image2.jpeg" Id="rI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3.jpeg" Id="rId2" /><Relationship Type="http://schemas.openxmlformats.org/officeDocument/2006/relationships/image" Target="/ppt/media/image2.jpeg" Id="rI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4.jpeg" Id="rId2" /><Relationship Type="http://schemas.openxmlformats.org/officeDocument/2006/relationships/image" Target="/ppt/media/image2.jpeg" Id="rI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5.jpeg" Id="rId2" /><Relationship Type="http://schemas.openxmlformats.org/officeDocument/2006/relationships/image" Target="/ppt/media/image2.jpeg" Id="rI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6.jpeg" Id="rId2" /><Relationship Type="http://schemas.openxmlformats.org/officeDocument/2006/relationships/image" Target="/ppt/media/image2.jpeg" Id="rI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7.jpeg" Id="rId2" /><Relationship Type="http://schemas.openxmlformats.org/officeDocument/2006/relationships/image" Target="/ppt/media/image2.jpeg" Id="rI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8.jpeg" Id="rId2" /><Relationship Type="http://schemas.openxmlformats.org/officeDocument/2006/relationships/image" Target="/ppt/media/image2.jpeg" Id="rI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9.jpeg" Id="rId2" /><Relationship Type="http://schemas.openxmlformats.org/officeDocument/2006/relationships/image" Target="/ppt/media/image2.jpeg" Id="rI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0.jpeg" Id="rId2" /><Relationship Type="http://schemas.openxmlformats.org/officeDocument/2006/relationships/image" Target="/ppt/media/image2.jpeg" Id="rI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1.jpeg" Id="rId2" /><Relationship Type="http://schemas.openxmlformats.org/officeDocument/2006/relationships/image" Target="/ppt/media/image2.jpeg" Id="rI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2.jpeg" Id="rId2" /><Relationship Type="http://schemas.openxmlformats.org/officeDocument/2006/relationships/image" Target="/ppt/media/image2.jpeg" Id="rI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3.jpeg" Id="rId2" /><Relationship Type="http://schemas.openxmlformats.org/officeDocument/2006/relationships/image" Target="/ppt/media/image2.jpeg" Id="rId3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45458" y="990600"/>
            <a:ext cx="9780542" cy="8248650"/>
          </a:xfrm>
          <a:custGeom>
            <a:avLst/>
            <a:gdLst/>
            <a:ahLst/>
            <a:cxnLst/>
            <a:rect r="r" b="b" t="t" l="l"/>
            <a:pathLst>
              <a:path h="8248650" w="9780542">
                <a:moveTo>
                  <a:pt x="0" y="0"/>
                </a:moveTo>
                <a:lnTo>
                  <a:pt x="9780542" y="0"/>
                </a:lnTo>
                <a:lnTo>
                  <a:pt x="9780542" y="8248650"/>
                </a:lnTo>
                <a:lnTo>
                  <a:pt x="0" y="8248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966" t="0" r="-24966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5811500" y="209550"/>
            <a:ext cx="1714500" cy="514350"/>
            <a:chOff x="0" y="0"/>
            <a:chExt cx="2286000" cy="685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6000" cy="685800"/>
            </a:xfrm>
            <a:custGeom>
              <a:avLst/>
              <a:gdLst/>
              <a:ahLst/>
              <a:cxnLst/>
              <a:rect r="r" b="b" t="t" l="l"/>
              <a:pathLst>
                <a:path h="685800" w="2286000">
                  <a:moveTo>
                    <a:pt x="342900" y="0"/>
                  </a:moveTo>
                  <a:lnTo>
                    <a:pt x="1943100" y="0"/>
                  </a:lnTo>
                  <a:cubicBezTo>
                    <a:pt x="2132478" y="0"/>
                    <a:pt x="2286000" y="153522"/>
                    <a:pt x="2286000" y="342900"/>
                  </a:cubicBezTo>
                  <a:lnTo>
                    <a:pt x="2286000" y="342900"/>
                  </a:lnTo>
                  <a:cubicBezTo>
                    <a:pt x="2286000" y="532278"/>
                    <a:pt x="2132478" y="685800"/>
                    <a:pt x="1943100" y="685800"/>
                  </a:cubicBezTo>
                  <a:lnTo>
                    <a:pt x="342900" y="685800"/>
                  </a:lnTo>
                  <a:cubicBezTo>
                    <a:pt x="153522" y="685800"/>
                    <a:pt x="0" y="532278"/>
                    <a:pt x="0" y="342900"/>
                  </a:cubicBezTo>
                  <a:lnTo>
                    <a:pt x="0" y="342900"/>
                  </a:ln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solidFill>
              <a:srgbClr val="1976D2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60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7259300" y="9277350"/>
            <a:ext cx="839047" cy="839047"/>
          </a:xfrm>
          <a:custGeom>
            <a:avLst/>
            <a:gdLst/>
            <a:ahLst/>
            <a:cxnLst/>
            <a:rect r="r" b="b" t="t" l="l"/>
            <a:pathLst>
              <a:path h="839047" w="839047">
                <a:moveTo>
                  <a:pt x="0" y="0"/>
                </a:moveTo>
                <a:lnTo>
                  <a:pt x="839047" y="0"/>
                </a:lnTo>
                <a:lnTo>
                  <a:pt x="839047" y="839047"/>
                </a:lnTo>
                <a:lnTo>
                  <a:pt x="0" y="839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9150" y="6895338"/>
            <a:ext cx="6169956" cy="1511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4"/>
              </a:lnSpc>
            </a:pPr>
            <a:r>
              <a:rPr lang="en-US" sz="5700">
                <a:solidFill>
                  <a:srgbClr val="1976D2"/>
                </a:solidFill>
                <a:latin typeface="Baloo"/>
                <a:ea typeface="Baloo"/>
                <a:cs typeface="Baloo"/>
                <a:sym typeface="Baloo"/>
              </a:rPr>
              <a:t>Hello!</a:t>
            </a:r>
          </a:p>
          <a:p>
            <a:pPr algn="ctr">
              <a:lnSpc>
                <a:spcPts val="5814"/>
              </a:lnSpc>
            </a:pPr>
            <a:r>
              <a:rPr lang="en-US" sz="5700">
                <a:solidFill>
                  <a:srgbClr val="1976D2"/>
                </a:solidFill>
                <a:latin typeface="Baloo"/>
                <a:ea typeface="Baloo"/>
                <a:cs typeface="Baloo"/>
                <a:sym typeface="Baloo"/>
              </a:rPr>
              <a:t>Review Time!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7309" y="933450"/>
            <a:ext cx="6989495" cy="295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000">
                <a:solidFill>
                  <a:srgbClr val="16324F"/>
                </a:solidFill>
                <a:latin typeface="Fredoka"/>
                <a:ea typeface="Fredoka"/>
                <a:cs typeface="Fredoka"/>
                <a:sym typeface="Fredoka"/>
              </a:rPr>
              <a:t>LESSON 10 - BLUE HUNT &amp; WEEK 2 REVIEW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11500" y="323850"/>
            <a:ext cx="1714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225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1 / 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7309" y="5191125"/>
            <a:ext cx="8572500" cy="63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>
                <a:solidFill>
                  <a:srgbClr val="16324F"/>
                </a:solidFill>
                <a:latin typeface="Baloo"/>
                <a:ea typeface="Baloo"/>
                <a:cs typeface="Baloo"/>
                <a:sym typeface="Baloo"/>
              </a:rPr>
              <a:t>Welcome to Review Day!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9150" y="8162925"/>
            <a:ext cx="24765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TEACHER • TPR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293916" y="9591675"/>
            <a:ext cx="4749668" cy="820771"/>
            <a:chOff x="0" y="0"/>
            <a:chExt cx="6332890" cy="109436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9050"/>
              <a:ext cx="3749777" cy="387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2000">
                  <a:solidFill>
                    <a:srgbClr val="000000"/>
                  </a:solidFill>
                  <a:latin typeface="Baloo"/>
                  <a:ea typeface="Baloo"/>
                  <a:cs typeface="Baloo"/>
                  <a:sym typeface="Baloo"/>
                </a:rPr>
                <a:t>LITTLE SEEDS!  MONTH 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386637" y="647961"/>
              <a:ext cx="2946254" cy="446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1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02862" y="990600"/>
            <a:ext cx="9323138" cy="7862888"/>
          </a:xfrm>
          <a:custGeom>
            <a:avLst/>
            <a:gdLst/>
            <a:ahLst/>
            <a:cxnLst/>
            <a:rect r="r" b="b" t="t" l="l"/>
            <a:pathLst>
              <a:path h="7862888" w="9323138">
                <a:moveTo>
                  <a:pt x="0" y="0"/>
                </a:moveTo>
                <a:lnTo>
                  <a:pt x="9323138" y="0"/>
                </a:lnTo>
                <a:lnTo>
                  <a:pt x="9323138" y="7862888"/>
                </a:lnTo>
                <a:lnTo>
                  <a:pt x="0" y="78628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966" t="0" r="-24966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0" y="4583430"/>
            <a:ext cx="7620000" cy="1340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98"/>
              </a:lnSpc>
            </a:pPr>
            <a:r>
              <a:rPr lang="en-US" sz="9900">
                <a:solidFill>
                  <a:srgbClr val="1976D2"/>
                </a:solidFill>
                <a:latin typeface="Baloo"/>
                <a:ea typeface="Baloo"/>
                <a:cs typeface="Baloo"/>
                <a:sym typeface="Baloo"/>
              </a:rPr>
              <a:t>Blue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811500" y="209550"/>
            <a:ext cx="1714500" cy="514350"/>
            <a:chOff x="0" y="0"/>
            <a:chExt cx="2286000" cy="685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6000" cy="685800"/>
            </a:xfrm>
            <a:custGeom>
              <a:avLst/>
              <a:gdLst/>
              <a:ahLst/>
              <a:cxnLst/>
              <a:rect r="r" b="b" t="t" l="l"/>
              <a:pathLst>
                <a:path h="685800" w="2286000">
                  <a:moveTo>
                    <a:pt x="342900" y="0"/>
                  </a:moveTo>
                  <a:lnTo>
                    <a:pt x="1943100" y="0"/>
                  </a:lnTo>
                  <a:cubicBezTo>
                    <a:pt x="2132478" y="0"/>
                    <a:pt x="2286000" y="153522"/>
                    <a:pt x="2286000" y="342900"/>
                  </a:cubicBezTo>
                  <a:lnTo>
                    <a:pt x="2286000" y="342900"/>
                  </a:lnTo>
                  <a:cubicBezTo>
                    <a:pt x="2286000" y="532278"/>
                    <a:pt x="2132478" y="685800"/>
                    <a:pt x="1943100" y="685800"/>
                  </a:cubicBezTo>
                  <a:lnTo>
                    <a:pt x="342900" y="685800"/>
                  </a:lnTo>
                  <a:cubicBezTo>
                    <a:pt x="153522" y="685800"/>
                    <a:pt x="0" y="532278"/>
                    <a:pt x="0" y="342900"/>
                  </a:cubicBezTo>
                  <a:lnTo>
                    <a:pt x="0" y="342900"/>
                  </a:ln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solidFill>
              <a:srgbClr val="1976D2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860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85800" y="295275"/>
            <a:ext cx="9334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 b="true">
                <a:solidFill>
                  <a:srgbClr val="16324F"/>
                </a:solidFill>
                <a:latin typeface="Nunito Bold"/>
                <a:ea typeface="Nunito Bold"/>
                <a:cs typeface="Nunito Bold"/>
                <a:sym typeface="Nunito Bold"/>
              </a:rPr>
              <a:t>Lesson 10 – Blue Hunt &amp; Week 2 Review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11500" y="323850"/>
            <a:ext cx="1714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225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2 / 13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3900" y="1143000"/>
            <a:ext cx="8572500" cy="63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>
                <a:solidFill>
                  <a:srgbClr val="16324F"/>
                </a:solidFill>
                <a:latin typeface="Baloo"/>
                <a:ea typeface="Baloo"/>
                <a:cs typeface="Baloo"/>
                <a:sym typeface="Baloo"/>
              </a:rPr>
              <a:t>Color Review: Blue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9150" y="8162925"/>
            <a:ext cx="24765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TEACHER • TPR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9150" y="8543925"/>
            <a:ext cx="1381125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What color is this? [Pause, point to screen] Yes! It is Blue! Let me hear you say BLUE! [Cup ear]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7259300" y="9277350"/>
            <a:ext cx="839047" cy="839047"/>
          </a:xfrm>
          <a:custGeom>
            <a:avLst/>
            <a:gdLst/>
            <a:ahLst/>
            <a:cxnLst/>
            <a:rect r="r" b="b" t="t" l="l"/>
            <a:pathLst>
              <a:path h="839047" w="839047">
                <a:moveTo>
                  <a:pt x="0" y="0"/>
                </a:moveTo>
                <a:lnTo>
                  <a:pt x="839047" y="0"/>
                </a:lnTo>
                <a:lnTo>
                  <a:pt x="839047" y="839047"/>
                </a:lnTo>
                <a:lnTo>
                  <a:pt x="0" y="839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293916" y="9591675"/>
            <a:ext cx="4749668" cy="820771"/>
            <a:chOff x="0" y="0"/>
            <a:chExt cx="6332890" cy="1094362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9050"/>
              <a:ext cx="3749777" cy="387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2000">
                  <a:solidFill>
                    <a:srgbClr val="000000"/>
                  </a:solidFill>
                  <a:latin typeface="Baloo"/>
                  <a:ea typeface="Baloo"/>
                  <a:cs typeface="Baloo"/>
                  <a:sym typeface="Baloo"/>
                </a:rPr>
                <a:t>LITTLE SEEDS!  MONTH 1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6637" y="647961"/>
              <a:ext cx="2946254" cy="446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1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46083" y="990600"/>
            <a:ext cx="9279917" cy="7826436"/>
          </a:xfrm>
          <a:custGeom>
            <a:avLst/>
            <a:gdLst/>
            <a:ahLst/>
            <a:cxnLst/>
            <a:rect r="r" b="b" t="t" l="l"/>
            <a:pathLst>
              <a:path h="7826436" w="9279917">
                <a:moveTo>
                  <a:pt x="0" y="0"/>
                </a:moveTo>
                <a:lnTo>
                  <a:pt x="9279917" y="0"/>
                </a:lnTo>
                <a:lnTo>
                  <a:pt x="9279917" y="7826436"/>
                </a:lnTo>
                <a:lnTo>
                  <a:pt x="0" y="7826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966" t="0" r="-24966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4775" y="4628388"/>
            <a:ext cx="7620000" cy="1250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6"/>
              </a:lnSpc>
            </a:pPr>
            <a:r>
              <a:rPr lang="en-US" sz="9300">
                <a:solidFill>
                  <a:srgbClr val="1976D2"/>
                </a:solidFill>
                <a:latin typeface="Baloo"/>
                <a:ea typeface="Baloo"/>
                <a:cs typeface="Baloo"/>
                <a:sym typeface="Baloo"/>
              </a:rPr>
              <a:t>Bird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811500" y="209550"/>
            <a:ext cx="1714500" cy="514350"/>
            <a:chOff x="0" y="0"/>
            <a:chExt cx="2286000" cy="685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6000" cy="685800"/>
            </a:xfrm>
            <a:custGeom>
              <a:avLst/>
              <a:gdLst/>
              <a:ahLst/>
              <a:cxnLst/>
              <a:rect r="r" b="b" t="t" l="l"/>
              <a:pathLst>
                <a:path h="685800" w="2286000">
                  <a:moveTo>
                    <a:pt x="342900" y="0"/>
                  </a:moveTo>
                  <a:lnTo>
                    <a:pt x="1943100" y="0"/>
                  </a:lnTo>
                  <a:cubicBezTo>
                    <a:pt x="2132478" y="0"/>
                    <a:pt x="2286000" y="153522"/>
                    <a:pt x="2286000" y="342900"/>
                  </a:cubicBezTo>
                  <a:lnTo>
                    <a:pt x="2286000" y="342900"/>
                  </a:lnTo>
                  <a:cubicBezTo>
                    <a:pt x="2286000" y="532278"/>
                    <a:pt x="2132478" y="685800"/>
                    <a:pt x="1943100" y="685800"/>
                  </a:cubicBezTo>
                  <a:lnTo>
                    <a:pt x="342900" y="685800"/>
                  </a:lnTo>
                  <a:cubicBezTo>
                    <a:pt x="153522" y="685800"/>
                    <a:pt x="0" y="532278"/>
                    <a:pt x="0" y="342900"/>
                  </a:cubicBezTo>
                  <a:lnTo>
                    <a:pt x="0" y="342900"/>
                  </a:ln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solidFill>
              <a:srgbClr val="1976D2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860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85800" y="295275"/>
            <a:ext cx="9334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 b="true">
                <a:solidFill>
                  <a:srgbClr val="16324F"/>
                </a:solidFill>
                <a:latin typeface="Nunito Bold"/>
                <a:ea typeface="Nunito Bold"/>
                <a:cs typeface="Nunito Bold"/>
                <a:sym typeface="Nunito Bold"/>
              </a:rPr>
              <a:t>Lesson 10 – Blue Hunt &amp; Week 2 Review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11500" y="323850"/>
            <a:ext cx="1714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225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3 / 13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3900" y="1143000"/>
            <a:ext cx="8572500" cy="63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>
                <a:solidFill>
                  <a:srgbClr val="16324F"/>
                </a:solidFill>
                <a:latin typeface="Baloo"/>
                <a:ea typeface="Baloo"/>
                <a:cs typeface="Baloo"/>
                <a:sym typeface="Baloo"/>
              </a:rPr>
              <a:t>Word Review: Bird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9150" y="8162925"/>
            <a:ext cx="24765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TEACHER • TPR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9150" y="8543925"/>
            <a:ext cx="1381125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Who is this? [Point to screen] Listen: Bird. Say: Bird! [Cup ear] What color is the bird? It is blue!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7259300" y="9277350"/>
            <a:ext cx="839047" cy="839047"/>
          </a:xfrm>
          <a:custGeom>
            <a:avLst/>
            <a:gdLst/>
            <a:ahLst/>
            <a:cxnLst/>
            <a:rect r="r" b="b" t="t" l="l"/>
            <a:pathLst>
              <a:path h="839047" w="839047">
                <a:moveTo>
                  <a:pt x="0" y="0"/>
                </a:moveTo>
                <a:lnTo>
                  <a:pt x="839047" y="0"/>
                </a:lnTo>
                <a:lnTo>
                  <a:pt x="839047" y="839047"/>
                </a:lnTo>
                <a:lnTo>
                  <a:pt x="0" y="839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293916" y="9591675"/>
            <a:ext cx="4749668" cy="820771"/>
            <a:chOff x="0" y="0"/>
            <a:chExt cx="6332890" cy="1094362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9050"/>
              <a:ext cx="3749777" cy="387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2000">
                  <a:solidFill>
                    <a:srgbClr val="000000"/>
                  </a:solidFill>
                  <a:latin typeface="Baloo"/>
                  <a:ea typeface="Baloo"/>
                  <a:cs typeface="Baloo"/>
                  <a:sym typeface="Baloo"/>
                </a:rPr>
                <a:t>LITTLE SEEDS!  MONTH 1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6637" y="647961"/>
              <a:ext cx="2946254" cy="446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1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18788" y="990600"/>
            <a:ext cx="9507212" cy="8018130"/>
          </a:xfrm>
          <a:custGeom>
            <a:avLst/>
            <a:gdLst/>
            <a:ahLst/>
            <a:cxnLst/>
            <a:rect r="r" b="b" t="t" l="l"/>
            <a:pathLst>
              <a:path h="8018130" w="9507212">
                <a:moveTo>
                  <a:pt x="0" y="0"/>
                </a:moveTo>
                <a:lnTo>
                  <a:pt x="9507212" y="0"/>
                </a:lnTo>
                <a:lnTo>
                  <a:pt x="9507212" y="8018130"/>
                </a:lnTo>
                <a:lnTo>
                  <a:pt x="0" y="80181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966" t="0" r="-24966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668000" y="4155750"/>
            <a:ext cx="5810250" cy="192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35"/>
              </a:lnSpc>
            </a:pPr>
            <a:r>
              <a:rPr lang="en-US" sz="14250">
                <a:solidFill>
                  <a:srgbClr val="1976D2"/>
                </a:solidFill>
                <a:latin typeface="Baloo"/>
                <a:ea typeface="Baloo"/>
                <a:cs typeface="Baloo"/>
                <a:sym typeface="Baloo"/>
              </a:rPr>
              <a:t>B  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85725" y="4819841"/>
            <a:ext cx="781050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8"/>
              </a:lnSpc>
            </a:pPr>
            <a:r>
              <a:rPr lang="en-US" sz="5400">
                <a:solidFill>
                  <a:srgbClr val="1976D2"/>
                </a:solidFill>
                <a:latin typeface="Baloo"/>
                <a:ea typeface="Baloo"/>
                <a:cs typeface="Baloo"/>
                <a:sym typeface="Baloo"/>
              </a:rPr>
              <a:t>Bb  /b/  Bird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811500" y="209550"/>
            <a:ext cx="1714500" cy="514350"/>
            <a:chOff x="0" y="0"/>
            <a:chExt cx="2286000" cy="685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6000" cy="685800"/>
            </a:xfrm>
            <a:custGeom>
              <a:avLst/>
              <a:gdLst/>
              <a:ahLst/>
              <a:cxnLst/>
              <a:rect r="r" b="b" t="t" l="l"/>
              <a:pathLst>
                <a:path h="685800" w="2286000">
                  <a:moveTo>
                    <a:pt x="342900" y="0"/>
                  </a:moveTo>
                  <a:lnTo>
                    <a:pt x="1943100" y="0"/>
                  </a:lnTo>
                  <a:cubicBezTo>
                    <a:pt x="2132478" y="0"/>
                    <a:pt x="2286000" y="153522"/>
                    <a:pt x="2286000" y="342900"/>
                  </a:cubicBezTo>
                  <a:lnTo>
                    <a:pt x="2286000" y="342900"/>
                  </a:lnTo>
                  <a:cubicBezTo>
                    <a:pt x="2286000" y="532278"/>
                    <a:pt x="2132478" y="685800"/>
                    <a:pt x="1943100" y="685800"/>
                  </a:cubicBezTo>
                  <a:lnTo>
                    <a:pt x="342900" y="685800"/>
                  </a:lnTo>
                  <a:cubicBezTo>
                    <a:pt x="153522" y="685800"/>
                    <a:pt x="0" y="532278"/>
                    <a:pt x="0" y="342900"/>
                  </a:cubicBezTo>
                  <a:lnTo>
                    <a:pt x="0" y="342900"/>
                  </a:ln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solidFill>
              <a:srgbClr val="1976D2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860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85800" y="295275"/>
            <a:ext cx="9334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 b="true">
                <a:solidFill>
                  <a:srgbClr val="16324F"/>
                </a:solidFill>
                <a:latin typeface="Nunito Bold"/>
                <a:ea typeface="Nunito Bold"/>
                <a:cs typeface="Nunito Bold"/>
                <a:sym typeface="Nunito Bold"/>
              </a:rPr>
              <a:t>Lesson 10 – Blue Hunt &amp; Week 2 Review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11500" y="323850"/>
            <a:ext cx="1714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225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4 / 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3900" y="1143000"/>
            <a:ext cx="8572500" cy="63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>
                <a:solidFill>
                  <a:srgbClr val="16324F"/>
                </a:solidFill>
                <a:latin typeface="Baloo"/>
                <a:ea typeface="Baloo"/>
                <a:cs typeface="Baloo"/>
                <a:sym typeface="Baloo"/>
              </a:rPr>
              <a:t>Phonics Review: Letter 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9150" y="8162925"/>
            <a:ext cx="24765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TEACHER • TPR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9150" y="8543925"/>
            <a:ext cx="1381125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Do you remember this letter? It is B! [Trace B in air] What sound does it make? /b/ /b/ Bird! Say it with me: /b/ /b/ Bird!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259300" y="9277350"/>
            <a:ext cx="839047" cy="839047"/>
          </a:xfrm>
          <a:custGeom>
            <a:avLst/>
            <a:gdLst/>
            <a:ahLst/>
            <a:cxnLst/>
            <a:rect r="r" b="b" t="t" l="l"/>
            <a:pathLst>
              <a:path h="839047" w="839047">
                <a:moveTo>
                  <a:pt x="0" y="0"/>
                </a:moveTo>
                <a:lnTo>
                  <a:pt x="839047" y="0"/>
                </a:lnTo>
                <a:lnTo>
                  <a:pt x="839047" y="839047"/>
                </a:lnTo>
                <a:lnTo>
                  <a:pt x="0" y="839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4293916" y="9591675"/>
            <a:ext cx="4749668" cy="820771"/>
            <a:chOff x="0" y="0"/>
            <a:chExt cx="6332890" cy="109436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9050"/>
              <a:ext cx="3749777" cy="387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2000">
                  <a:solidFill>
                    <a:srgbClr val="000000"/>
                  </a:solidFill>
                  <a:latin typeface="Baloo"/>
                  <a:ea typeface="Baloo"/>
                  <a:cs typeface="Baloo"/>
                  <a:sym typeface="Baloo"/>
                </a:rPr>
                <a:t>LITTLE SEEDS!  MONTH 1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386637" y="647961"/>
              <a:ext cx="2946254" cy="446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1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49801" y="990600"/>
            <a:ext cx="9476199" cy="7991975"/>
          </a:xfrm>
          <a:custGeom>
            <a:avLst/>
            <a:gdLst/>
            <a:ahLst/>
            <a:cxnLst/>
            <a:rect r="r" b="b" t="t" l="l"/>
            <a:pathLst>
              <a:path h="7991975" w="9476199">
                <a:moveTo>
                  <a:pt x="0" y="0"/>
                </a:moveTo>
                <a:lnTo>
                  <a:pt x="9476199" y="0"/>
                </a:lnTo>
                <a:lnTo>
                  <a:pt x="9476199" y="7991975"/>
                </a:lnTo>
                <a:lnTo>
                  <a:pt x="0" y="79919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966" t="0" r="-24966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-32436" y="4592666"/>
            <a:ext cx="7620000" cy="871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</a:pPr>
            <a:r>
              <a:rPr lang="en-US" sz="6450">
                <a:solidFill>
                  <a:srgbClr val="4CAF65"/>
                </a:solidFill>
                <a:latin typeface="Baloo"/>
                <a:ea typeface="Baloo"/>
                <a:cs typeface="Baloo"/>
                <a:sym typeface="Baloo"/>
              </a:rPr>
              <a:t>Hello, tree!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811500" y="209550"/>
            <a:ext cx="1714500" cy="514350"/>
            <a:chOff x="0" y="0"/>
            <a:chExt cx="2286000" cy="685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6000" cy="685800"/>
            </a:xfrm>
            <a:custGeom>
              <a:avLst/>
              <a:gdLst/>
              <a:ahLst/>
              <a:cxnLst/>
              <a:rect r="r" b="b" t="t" l="l"/>
              <a:pathLst>
                <a:path h="685800" w="2286000">
                  <a:moveTo>
                    <a:pt x="342900" y="0"/>
                  </a:moveTo>
                  <a:lnTo>
                    <a:pt x="1943100" y="0"/>
                  </a:lnTo>
                  <a:cubicBezTo>
                    <a:pt x="2132478" y="0"/>
                    <a:pt x="2286000" y="153522"/>
                    <a:pt x="2286000" y="342900"/>
                  </a:cubicBezTo>
                  <a:lnTo>
                    <a:pt x="2286000" y="342900"/>
                  </a:lnTo>
                  <a:cubicBezTo>
                    <a:pt x="2286000" y="532278"/>
                    <a:pt x="2132478" y="685800"/>
                    <a:pt x="1943100" y="685800"/>
                  </a:cubicBezTo>
                  <a:lnTo>
                    <a:pt x="342900" y="685800"/>
                  </a:lnTo>
                  <a:cubicBezTo>
                    <a:pt x="153522" y="685800"/>
                    <a:pt x="0" y="532278"/>
                    <a:pt x="0" y="342900"/>
                  </a:cubicBezTo>
                  <a:lnTo>
                    <a:pt x="0" y="342900"/>
                  </a:ln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solidFill>
              <a:srgbClr val="1976D2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860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85800" y="295275"/>
            <a:ext cx="9334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 b="true">
                <a:solidFill>
                  <a:srgbClr val="16324F"/>
                </a:solidFill>
                <a:latin typeface="Nunito Bold"/>
                <a:ea typeface="Nunito Bold"/>
                <a:cs typeface="Nunito Bold"/>
                <a:sym typeface="Nunito Bold"/>
              </a:rPr>
              <a:t>Lesson 10 – Blue Hunt &amp; Week 2 Review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11500" y="323850"/>
            <a:ext cx="1714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225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6 / 13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5588" y="1190717"/>
            <a:ext cx="8572500" cy="63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>
                <a:solidFill>
                  <a:srgbClr val="16324F"/>
                </a:solidFill>
                <a:latin typeface="Baloo"/>
                <a:ea typeface="Baloo"/>
                <a:cs typeface="Baloo"/>
                <a:sym typeface="Baloo"/>
              </a:rPr>
              <a:t>Action Review: Hello, Tree!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9150" y="8162925"/>
            <a:ext cx="24765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TEACHER • TPR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9150" y="8543925"/>
            <a:ext cx="1381125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Trees are our friends. Let's say hello! [Wave hand wildly] Say: Hello, tree! [Wait for response]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7259300" y="9258300"/>
            <a:ext cx="839047" cy="839047"/>
          </a:xfrm>
          <a:custGeom>
            <a:avLst/>
            <a:gdLst/>
            <a:ahLst/>
            <a:cxnLst/>
            <a:rect r="r" b="b" t="t" l="l"/>
            <a:pathLst>
              <a:path h="839047" w="839047">
                <a:moveTo>
                  <a:pt x="0" y="0"/>
                </a:moveTo>
                <a:lnTo>
                  <a:pt x="839047" y="0"/>
                </a:lnTo>
                <a:lnTo>
                  <a:pt x="839047" y="839047"/>
                </a:lnTo>
                <a:lnTo>
                  <a:pt x="0" y="839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259300" y="9277350"/>
            <a:ext cx="839047" cy="839047"/>
          </a:xfrm>
          <a:custGeom>
            <a:avLst/>
            <a:gdLst/>
            <a:ahLst/>
            <a:cxnLst/>
            <a:rect r="r" b="b" t="t" l="l"/>
            <a:pathLst>
              <a:path h="839047" w="839047">
                <a:moveTo>
                  <a:pt x="0" y="0"/>
                </a:moveTo>
                <a:lnTo>
                  <a:pt x="839047" y="0"/>
                </a:lnTo>
                <a:lnTo>
                  <a:pt x="839047" y="839047"/>
                </a:lnTo>
                <a:lnTo>
                  <a:pt x="0" y="839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4293916" y="9591675"/>
            <a:ext cx="4749668" cy="820771"/>
            <a:chOff x="0" y="0"/>
            <a:chExt cx="6332890" cy="109436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9050"/>
              <a:ext cx="3749777" cy="387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2000">
                  <a:solidFill>
                    <a:srgbClr val="000000"/>
                  </a:solidFill>
                  <a:latin typeface="Baloo"/>
                  <a:ea typeface="Baloo"/>
                  <a:cs typeface="Baloo"/>
                  <a:sym typeface="Baloo"/>
                </a:rPr>
                <a:t>LITTLE SEEDS!  MONTH 1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386637" y="647961"/>
              <a:ext cx="2946254" cy="446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1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87747" y="990600"/>
            <a:ext cx="9438253" cy="7959972"/>
          </a:xfrm>
          <a:custGeom>
            <a:avLst/>
            <a:gdLst/>
            <a:ahLst/>
            <a:cxnLst/>
            <a:rect r="r" b="b" t="t" l="l"/>
            <a:pathLst>
              <a:path h="7959972" w="9438253">
                <a:moveTo>
                  <a:pt x="0" y="0"/>
                </a:moveTo>
                <a:lnTo>
                  <a:pt x="9438253" y="0"/>
                </a:lnTo>
                <a:lnTo>
                  <a:pt x="9438253" y="7959972"/>
                </a:lnTo>
                <a:lnTo>
                  <a:pt x="0" y="79599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966" t="0" r="-24966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4775" y="4166521"/>
            <a:ext cx="7620000" cy="977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7"/>
              </a:lnSpc>
            </a:pPr>
            <a:r>
              <a:rPr lang="en-US" sz="7350">
                <a:solidFill>
                  <a:srgbClr val="1976D2"/>
                </a:solidFill>
                <a:latin typeface="Baloo"/>
                <a:ea typeface="Baloo"/>
                <a:cs typeface="Baloo"/>
                <a:sym typeface="Baloo"/>
              </a:rPr>
              <a:t>Find Blue!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811500" y="209550"/>
            <a:ext cx="1714500" cy="514350"/>
            <a:chOff x="0" y="0"/>
            <a:chExt cx="2286000" cy="685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6000" cy="685800"/>
            </a:xfrm>
            <a:custGeom>
              <a:avLst/>
              <a:gdLst/>
              <a:ahLst/>
              <a:cxnLst/>
              <a:rect r="r" b="b" t="t" l="l"/>
              <a:pathLst>
                <a:path h="685800" w="2286000">
                  <a:moveTo>
                    <a:pt x="342900" y="0"/>
                  </a:moveTo>
                  <a:lnTo>
                    <a:pt x="1943100" y="0"/>
                  </a:lnTo>
                  <a:cubicBezTo>
                    <a:pt x="2132478" y="0"/>
                    <a:pt x="2286000" y="153522"/>
                    <a:pt x="2286000" y="342900"/>
                  </a:cubicBezTo>
                  <a:lnTo>
                    <a:pt x="2286000" y="342900"/>
                  </a:lnTo>
                  <a:cubicBezTo>
                    <a:pt x="2286000" y="532278"/>
                    <a:pt x="2132478" y="685800"/>
                    <a:pt x="1943100" y="685800"/>
                  </a:cubicBezTo>
                  <a:lnTo>
                    <a:pt x="342900" y="685800"/>
                  </a:lnTo>
                  <a:cubicBezTo>
                    <a:pt x="153522" y="685800"/>
                    <a:pt x="0" y="532278"/>
                    <a:pt x="0" y="342900"/>
                  </a:cubicBezTo>
                  <a:lnTo>
                    <a:pt x="0" y="342900"/>
                  </a:ln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solidFill>
              <a:srgbClr val="1976D2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860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85800" y="295275"/>
            <a:ext cx="9334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 b="true">
                <a:solidFill>
                  <a:srgbClr val="16324F"/>
                </a:solidFill>
                <a:latin typeface="Nunito Bold"/>
                <a:ea typeface="Nunito Bold"/>
                <a:cs typeface="Nunito Bold"/>
                <a:sym typeface="Nunito Bold"/>
              </a:rPr>
              <a:t>Lesson 10 – Blue Hunt &amp; Week 2 Review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11500" y="323850"/>
            <a:ext cx="1714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225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7 / 13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800" y="1104900"/>
            <a:ext cx="8572500" cy="63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>
                <a:solidFill>
                  <a:srgbClr val="16324F"/>
                </a:solidFill>
                <a:latin typeface="Baloo"/>
                <a:ea typeface="Baloo"/>
                <a:cs typeface="Baloo"/>
                <a:sym typeface="Baloo"/>
              </a:rPr>
              <a:t>Game: The Blue Hunt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9150" y="8162925"/>
            <a:ext cx="24765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TEACHER • TPR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9150" y="8543925"/>
            <a:ext cx="1381125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Where is the blue toy? Touch something blue! [Wait for tap] Yes! The bird is blue!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7259300" y="9277350"/>
            <a:ext cx="839047" cy="839047"/>
          </a:xfrm>
          <a:custGeom>
            <a:avLst/>
            <a:gdLst/>
            <a:ahLst/>
            <a:cxnLst/>
            <a:rect r="r" b="b" t="t" l="l"/>
            <a:pathLst>
              <a:path h="839047" w="839047">
                <a:moveTo>
                  <a:pt x="0" y="0"/>
                </a:moveTo>
                <a:lnTo>
                  <a:pt x="839047" y="0"/>
                </a:lnTo>
                <a:lnTo>
                  <a:pt x="839047" y="839047"/>
                </a:lnTo>
                <a:lnTo>
                  <a:pt x="0" y="839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293916" y="9591675"/>
            <a:ext cx="4749668" cy="820771"/>
            <a:chOff x="0" y="0"/>
            <a:chExt cx="6332890" cy="1094362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9050"/>
              <a:ext cx="3749777" cy="387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2000">
                  <a:solidFill>
                    <a:srgbClr val="000000"/>
                  </a:solidFill>
                  <a:latin typeface="Baloo"/>
                  <a:ea typeface="Baloo"/>
                  <a:cs typeface="Baloo"/>
                  <a:sym typeface="Baloo"/>
                </a:rPr>
                <a:t>LITTLE SEEDS!  MONTH 1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6637" y="647961"/>
              <a:ext cx="2946254" cy="446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1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33562" y="990600"/>
            <a:ext cx="9292438" cy="7836996"/>
          </a:xfrm>
          <a:custGeom>
            <a:avLst/>
            <a:gdLst/>
            <a:ahLst/>
            <a:cxnLst/>
            <a:rect r="r" b="b" t="t" l="l"/>
            <a:pathLst>
              <a:path h="7836996" w="9292438">
                <a:moveTo>
                  <a:pt x="0" y="0"/>
                </a:moveTo>
                <a:lnTo>
                  <a:pt x="9292438" y="0"/>
                </a:lnTo>
                <a:lnTo>
                  <a:pt x="9292438" y="7836996"/>
                </a:lnTo>
                <a:lnTo>
                  <a:pt x="0" y="7836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966" t="0" r="-24966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020300" y="2764481"/>
            <a:ext cx="20955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0"/>
              </a:lnSpc>
            </a:pPr>
            <a:r>
              <a:rPr lang="en-US" sz="7500">
                <a:solidFill>
                  <a:srgbClr val="16324F"/>
                </a:solidFill>
                <a:latin typeface="Baloo"/>
                <a:ea typeface="Baloo"/>
                <a:cs typeface="Baloo"/>
                <a:sym typeface="Baloo"/>
              </a:rPr>
              <a:t>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726126" y="2764481"/>
            <a:ext cx="20955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0"/>
              </a:lnSpc>
            </a:pPr>
            <a:r>
              <a:rPr lang="en-US" sz="7500">
                <a:solidFill>
                  <a:srgbClr val="1976D2"/>
                </a:solidFill>
                <a:latin typeface="Baloo"/>
                <a:ea typeface="Baloo"/>
                <a:cs typeface="Baloo"/>
                <a:sym typeface="Baloo"/>
              </a:rPr>
              <a:t>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20300" y="6239990"/>
            <a:ext cx="20955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0"/>
              </a:lnSpc>
            </a:pPr>
            <a:r>
              <a:rPr lang="en-US" sz="7500">
                <a:solidFill>
                  <a:srgbClr val="16324F"/>
                </a:solidFill>
                <a:latin typeface="Baloo"/>
                <a:ea typeface="Baloo"/>
                <a:cs typeface="Baloo"/>
                <a:sym typeface="Baloo"/>
              </a:rPr>
              <a:t>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26126" y="6239990"/>
            <a:ext cx="20955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0"/>
              </a:lnSpc>
            </a:pPr>
            <a:r>
              <a:rPr lang="en-US" sz="7500">
                <a:solidFill>
                  <a:srgbClr val="1976D2"/>
                </a:solidFill>
                <a:latin typeface="Baloo"/>
                <a:ea typeface="Baloo"/>
                <a:cs typeface="Baloo"/>
                <a:sym typeface="Baloo"/>
              </a:rPr>
              <a:t>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" y="4511143"/>
            <a:ext cx="7620000" cy="919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8"/>
              </a:lnSpc>
            </a:pPr>
            <a:r>
              <a:rPr lang="en-US" sz="6900">
                <a:solidFill>
                  <a:srgbClr val="1976D2"/>
                </a:solidFill>
                <a:latin typeface="Baloo"/>
                <a:ea typeface="Baloo"/>
                <a:cs typeface="Baloo"/>
                <a:sym typeface="Baloo"/>
              </a:rPr>
              <a:t>Pop the B!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811500" y="209550"/>
            <a:ext cx="1714500" cy="514350"/>
            <a:chOff x="0" y="0"/>
            <a:chExt cx="2286000" cy="685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6000" cy="685800"/>
            </a:xfrm>
            <a:custGeom>
              <a:avLst/>
              <a:gdLst/>
              <a:ahLst/>
              <a:cxnLst/>
              <a:rect r="r" b="b" t="t" l="l"/>
              <a:pathLst>
                <a:path h="685800" w="2286000">
                  <a:moveTo>
                    <a:pt x="342900" y="0"/>
                  </a:moveTo>
                  <a:lnTo>
                    <a:pt x="1943100" y="0"/>
                  </a:lnTo>
                  <a:cubicBezTo>
                    <a:pt x="2132478" y="0"/>
                    <a:pt x="2286000" y="153522"/>
                    <a:pt x="2286000" y="342900"/>
                  </a:cubicBezTo>
                  <a:lnTo>
                    <a:pt x="2286000" y="342900"/>
                  </a:lnTo>
                  <a:cubicBezTo>
                    <a:pt x="2286000" y="532278"/>
                    <a:pt x="2132478" y="685800"/>
                    <a:pt x="1943100" y="685800"/>
                  </a:cubicBezTo>
                  <a:lnTo>
                    <a:pt x="342900" y="685800"/>
                  </a:lnTo>
                  <a:cubicBezTo>
                    <a:pt x="153522" y="685800"/>
                    <a:pt x="0" y="532278"/>
                    <a:pt x="0" y="342900"/>
                  </a:cubicBezTo>
                  <a:lnTo>
                    <a:pt x="0" y="342900"/>
                  </a:ln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solidFill>
              <a:srgbClr val="1976D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860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85800" y="295275"/>
            <a:ext cx="9334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 b="true">
                <a:solidFill>
                  <a:srgbClr val="16324F"/>
                </a:solidFill>
                <a:latin typeface="Nunito Bold"/>
                <a:ea typeface="Nunito Bold"/>
                <a:cs typeface="Nunito Bold"/>
                <a:sym typeface="Nunito Bold"/>
              </a:rPr>
              <a:t>Lesson 10 – Blue Hunt &amp; Week 2 Review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811500" y="323850"/>
            <a:ext cx="1714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225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8 / 13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7800" y="1104900"/>
            <a:ext cx="8572500" cy="63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>
                <a:solidFill>
                  <a:srgbClr val="16324F"/>
                </a:solidFill>
                <a:latin typeface="Baloo"/>
                <a:ea typeface="Baloo"/>
                <a:cs typeface="Baloo"/>
                <a:sym typeface="Baloo"/>
              </a:rPr>
              <a:t>Game: Pop the B!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9150" y="8162925"/>
            <a:ext cx="24765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TEACHER • TPR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9150" y="8543925"/>
            <a:ext cx="1381125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Pop the bubbles! Only pop the letter B! Touch B! [Wait for taps] Pop! Pop! Great job!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7259300" y="9277350"/>
            <a:ext cx="839047" cy="839047"/>
          </a:xfrm>
          <a:custGeom>
            <a:avLst/>
            <a:gdLst/>
            <a:ahLst/>
            <a:cxnLst/>
            <a:rect r="r" b="b" t="t" l="l"/>
            <a:pathLst>
              <a:path h="839047" w="839047">
                <a:moveTo>
                  <a:pt x="0" y="0"/>
                </a:moveTo>
                <a:lnTo>
                  <a:pt x="839047" y="0"/>
                </a:lnTo>
                <a:lnTo>
                  <a:pt x="839047" y="839047"/>
                </a:lnTo>
                <a:lnTo>
                  <a:pt x="0" y="839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4293916" y="9591675"/>
            <a:ext cx="4749668" cy="820771"/>
            <a:chOff x="0" y="0"/>
            <a:chExt cx="6332890" cy="1094362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19050"/>
              <a:ext cx="3749777" cy="387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2000">
                  <a:solidFill>
                    <a:srgbClr val="000000"/>
                  </a:solidFill>
                  <a:latin typeface="Baloo"/>
                  <a:ea typeface="Baloo"/>
                  <a:cs typeface="Baloo"/>
                  <a:sym typeface="Baloo"/>
                </a:rPr>
                <a:t>LITTLE SEEDS!  MONTH 1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386637" y="647961"/>
              <a:ext cx="2946254" cy="446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1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46333" y="990600"/>
            <a:ext cx="9479667" cy="7994900"/>
          </a:xfrm>
          <a:custGeom>
            <a:avLst/>
            <a:gdLst/>
            <a:ahLst/>
            <a:cxnLst/>
            <a:rect r="r" b="b" t="t" l="l"/>
            <a:pathLst>
              <a:path h="7994900" w="9479667">
                <a:moveTo>
                  <a:pt x="0" y="0"/>
                </a:moveTo>
                <a:lnTo>
                  <a:pt x="9479667" y="0"/>
                </a:lnTo>
                <a:lnTo>
                  <a:pt x="9479667" y="7994900"/>
                </a:lnTo>
                <a:lnTo>
                  <a:pt x="0" y="7994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984" r="0" b="-38984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3525500" y="2000250"/>
            <a:ext cx="171450" cy="171450"/>
            <a:chOff x="0" y="0"/>
            <a:chExt cx="228600" cy="228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26" y="0"/>
                    <a:pt x="228600" y="51174"/>
                    <a:pt x="228600" y="114300"/>
                  </a:cubicBezTo>
                  <a:cubicBezTo>
                    <a:pt x="228600" y="177426"/>
                    <a:pt x="177426" y="228600"/>
                    <a:pt x="114300" y="228600"/>
                  </a:cubicBezTo>
                  <a:cubicBezTo>
                    <a:pt x="51174" y="228600"/>
                    <a:pt x="0" y="177426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1976D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3525500" y="2714625"/>
            <a:ext cx="171450" cy="171450"/>
            <a:chOff x="0" y="0"/>
            <a:chExt cx="228600" cy="228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26" y="0"/>
                    <a:pt x="228600" y="51174"/>
                    <a:pt x="228600" y="114300"/>
                  </a:cubicBezTo>
                  <a:cubicBezTo>
                    <a:pt x="228600" y="177426"/>
                    <a:pt x="177426" y="228600"/>
                    <a:pt x="114300" y="228600"/>
                  </a:cubicBezTo>
                  <a:cubicBezTo>
                    <a:pt x="51174" y="228600"/>
                    <a:pt x="0" y="177426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1976D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525500" y="3429000"/>
            <a:ext cx="171450" cy="171450"/>
            <a:chOff x="0" y="0"/>
            <a:chExt cx="228600" cy="228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26" y="0"/>
                    <a:pt x="228600" y="51174"/>
                    <a:pt x="228600" y="114300"/>
                  </a:cubicBezTo>
                  <a:cubicBezTo>
                    <a:pt x="228600" y="177426"/>
                    <a:pt x="177426" y="228600"/>
                    <a:pt x="114300" y="228600"/>
                  </a:cubicBezTo>
                  <a:cubicBezTo>
                    <a:pt x="51174" y="228600"/>
                    <a:pt x="0" y="177426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1976D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525500" y="4143375"/>
            <a:ext cx="171450" cy="171450"/>
            <a:chOff x="0" y="0"/>
            <a:chExt cx="228600" cy="228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26" y="0"/>
                    <a:pt x="228600" y="51174"/>
                    <a:pt x="228600" y="114300"/>
                  </a:cubicBezTo>
                  <a:cubicBezTo>
                    <a:pt x="228600" y="177426"/>
                    <a:pt x="177426" y="228600"/>
                    <a:pt x="114300" y="228600"/>
                  </a:cubicBezTo>
                  <a:cubicBezTo>
                    <a:pt x="51174" y="228600"/>
                    <a:pt x="0" y="177426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1976D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3525500" y="4857750"/>
            <a:ext cx="171450" cy="171450"/>
            <a:chOff x="0" y="0"/>
            <a:chExt cx="228600" cy="228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26" y="0"/>
                    <a:pt x="228600" y="51174"/>
                    <a:pt x="228600" y="114300"/>
                  </a:cubicBezTo>
                  <a:cubicBezTo>
                    <a:pt x="228600" y="177426"/>
                    <a:pt x="177426" y="228600"/>
                    <a:pt x="114300" y="228600"/>
                  </a:cubicBezTo>
                  <a:cubicBezTo>
                    <a:pt x="51174" y="228600"/>
                    <a:pt x="0" y="177426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1976D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525500" y="5572125"/>
            <a:ext cx="171450" cy="171450"/>
            <a:chOff x="0" y="0"/>
            <a:chExt cx="228600" cy="228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26" y="0"/>
                    <a:pt x="228600" y="51174"/>
                    <a:pt x="228600" y="114300"/>
                  </a:cubicBezTo>
                  <a:cubicBezTo>
                    <a:pt x="228600" y="177426"/>
                    <a:pt x="177426" y="228600"/>
                    <a:pt x="114300" y="228600"/>
                  </a:cubicBezTo>
                  <a:cubicBezTo>
                    <a:pt x="51174" y="228600"/>
                    <a:pt x="0" y="177426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1976D2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3525500" y="6286500"/>
            <a:ext cx="171450" cy="171450"/>
            <a:chOff x="0" y="0"/>
            <a:chExt cx="228600" cy="228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26" y="0"/>
                    <a:pt x="228600" y="51174"/>
                    <a:pt x="228600" y="114300"/>
                  </a:cubicBezTo>
                  <a:cubicBezTo>
                    <a:pt x="228600" y="177426"/>
                    <a:pt x="177426" y="228600"/>
                    <a:pt x="114300" y="228600"/>
                  </a:cubicBezTo>
                  <a:cubicBezTo>
                    <a:pt x="51174" y="228600"/>
                    <a:pt x="0" y="177426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1976D2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0" y="4472749"/>
            <a:ext cx="7620000" cy="884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2"/>
              </a:lnSpc>
            </a:pPr>
            <a:r>
              <a:rPr lang="en-US" sz="6600">
                <a:solidFill>
                  <a:srgbClr val="4CAF65"/>
                </a:solidFill>
                <a:latin typeface="Baloo"/>
                <a:ea typeface="Baloo"/>
                <a:cs typeface="Baloo"/>
                <a:sym typeface="Baloo"/>
              </a:rPr>
              <a:t>Draw down.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5811500" y="209550"/>
            <a:ext cx="1714500" cy="514350"/>
            <a:chOff x="0" y="0"/>
            <a:chExt cx="2286000" cy="685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86000" cy="685800"/>
            </a:xfrm>
            <a:custGeom>
              <a:avLst/>
              <a:gdLst/>
              <a:ahLst/>
              <a:cxnLst/>
              <a:rect r="r" b="b" t="t" l="l"/>
              <a:pathLst>
                <a:path h="685800" w="2286000">
                  <a:moveTo>
                    <a:pt x="342900" y="0"/>
                  </a:moveTo>
                  <a:lnTo>
                    <a:pt x="1943100" y="0"/>
                  </a:lnTo>
                  <a:cubicBezTo>
                    <a:pt x="2132478" y="0"/>
                    <a:pt x="2286000" y="153522"/>
                    <a:pt x="2286000" y="342900"/>
                  </a:cubicBezTo>
                  <a:lnTo>
                    <a:pt x="2286000" y="342900"/>
                  </a:lnTo>
                  <a:cubicBezTo>
                    <a:pt x="2286000" y="532278"/>
                    <a:pt x="2132478" y="685800"/>
                    <a:pt x="1943100" y="685800"/>
                  </a:cubicBezTo>
                  <a:lnTo>
                    <a:pt x="342900" y="685800"/>
                  </a:lnTo>
                  <a:cubicBezTo>
                    <a:pt x="153522" y="685800"/>
                    <a:pt x="0" y="532278"/>
                    <a:pt x="0" y="342900"/>
                  </a:cubicBezTo>
                  <a:lnTo>
                    <a:pt x="0" y="342900"/>
                  </a:ln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solidFill>
              <a:srgbClr val="1976D2"/>
            </a:soli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2860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85800" y="295275"/>
            <a:ext cx="9334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 b="true">
                <a:solidFill>
                  <a:srgbClr val="16324F"/>
                </a:solidFill>
                <a:latin typeface="Nunito Bold"/>
                <a:ea typeface="Nunito Bold"/>
                <a:cs typeface="Nunito Bold"/>
                <a:sym typeface="Nunito Bold"/>
              </a:rPr>
              <a:t>Lesson 10 – Blue Hunt &amp; Week 2 Review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811500" y="323850"/>
            <a:ext cx="1714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225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9 / 13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1500" y="1104900"/>
            <a:ext cx="8572500" cy="63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>
                <a:solidFill>
                  <a:srgbClr val="16324F"/>
                </a:solidFill>
                <a:latin typeface="Baloo"/>
                <a:ea typeface="Baloo"/>
                <a:cs typeface="Baloo"/>
                <a:sym typeface="Baloo"/>
              </a:rPr>
              <a:t>Game: Trace the Tall Tree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9150" y="8162925"/>
            <a:ext cx="24765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TEACHER • TPR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9150" y="8543925"/>
            <a:ext cx="1381125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Magic finger ready! Let's draw the tall tree. Down, down, down! [Trace vertically on screen]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7259300" y="9277350"/>
            <a:ext cx="839047" cy="839047"/>
          </a:xfrm>
          <a:custGeom>
            <a:avLst/>
            <a:gdLst/>
            <a:ahLst/>
            <a:cxnLst/>
            <a:rect r="r" b="b" t="t" l="l"/>
            <a:pathLst>
              <a:path h="839047" w="839047">
                <a:moveTo>
                  <a:pt x="0" y="0"/>
                </a:moveTo>
                <a:lnTo>
                  <a:pt x="839047" y="0"/>
                </a:lnTo>
                <a:lnTo>
                  <a:pt x="839047" y="839047"/>
                </a:lnTo>
                <a:lnTo>
                  <a:pt x="0" y="839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4293916" y="9591675"/>
            <a:ext cx="4749668" cy="820771"/>
            <a:chOff x="0" y="0"/>
            <a:chExt cx="6332890" cy="1094362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19050"/>
              <a:ext cx="3749777" cy="387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2000">
                  <a:solidFill>
                    <a:srgbClr val="000000"/>
                  </a:solidFill>
                  <a:latin typeface="Baloo"/>
                  <a:ea typeface="Baloo"/>
                  <a:cs typeface="Baloo"/>
                  <a:sym typeface="Baloo"/>
                </a:rPr>
                <a:t>LITTLE SEEDS!  MONTH 1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386637" y="647961"/>
              <a:ext cx="2946254" cy="446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1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43829" y="990600"/>
            <a:ext cx="9482171" cy="7997012"/>
          </a:xfrm>
          <a:custGeom>
            <a:avLst/>
            <a:gdLst/>
            <a:ahLst/>
            <a:cxnLst/>
            <a:rect r="r" b="b" t="t" l="l"/>
            <a:pathLst>
              <a:path h="7997012" w="9482171">
                <a:moveTo>
                  <a:pt x="0" y="0"/>
                </a:moveTo>
                <a:lnTo>
                  <a:pt x="9482171" y="0"/>
                </a:lnTo>
                <a:lnTo>
                  <a:pt x="9482171" y="7997012"/>
                </a:lnTo>
                <a:lnTo>
                  <a:pt x="0" y="79970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966" t="0" r="-24966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241158" y="4465194"/>
            <a:ext cx="7620000" cy="77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4"/>
              </a:lnSpc>
            </a:pPr>
            <a:r>
              <a:rPr lang="en-US" sz="5700">
                <a:solidFill>
                  <a:srgbClr val="4CAF65"/>
                </a:solidFill>
                <a:latin typeface="Baloo"/>
                <a:ea typeface="Baloo"/>
                <a:cs typeface="Baloo"/>
                <a:sym typeface="Baloo"/>
              </a:rPr>
              <a:t>God made our world.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811500" y="209550"/>
            <a:ext cx="1714500" cy="514350"/>
            <a:chOff x="0" y="0"/>
            <a:chExt cx="2286000" cy="685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6000" cy="685800"/>
            </a:xfrm>
            <a:custGeom>
              <a:avLst/>
              <a:gdLst/>
              <a:ahLst/>
              <a:cxnLst/>
              <a:rect r="r" b="b" t="t" l="l"/>
              <a:pathLst>
                <a:path h="685800" w="2286000">
                  <a:moveTo>
                    <a:pt x="342900" y="0"/>
                  </a:moveTo>
                  <a:lnTo>
                    <a:pt x="1943100" y="0"/>
                  </a:lnTo>
                  <a:cubicBezTo>
                    <a:pt x="2132478" y="0"/>
                    <a:pt x="2286000" y="153522"/>
                    <a:pt x="2286000" y="342900"/>
                  </a:cubicBezTo>
                  <a:lnTo>
                    <a:pt x="2286000" y="342900"/>
                  </a:lnTo>
                  <a:cubicBezTo>
                    <a:pt x="2286000" y="532278"/>
                    <a:pt x="2132478" y="685800"/>
                    <a:pt x="1943100" y="685800"/>
                  </a:cubicBezTo>
                  <a:lnTo>
                    <a:pt x="342900" y="685800"/>
                  </a:lnTo>
                  <a:cubicBezTo>
                    <a:pt x="153522" y="685800"/>
                    <a:pt x="0" y="532278"/>
                    <a:pt x="0" y="342900"/>
                  </a:cubicBezTo>
                  <a:lnTo>
                    <a:pt x="0" y="342900"/>
                  </a:ln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solidFill>
              <a:srgbClr val="1976D2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860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85800" y="295275"/>
            <a:ext cx="9334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 b="true">
                <a:solidFill>
                  <a:srgbClr val="16324F"/>
                </a:solidFill>
                <a:latin typeface="Nunito Bold"/>
                <a:ea typeface="Nunito Bold"/>
                <a:cs typeface="Nunito Bold"/>
                <a:sym typeface="Nunito Bold"/>
              </a:rPr>
              <a:t>Lesson 10 – Blue Hunt &amp; Week 2 Review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11500" y="323850"/>
            <a:ext cx="1714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225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10 / 13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1500" y="1104900"/>
            <a:ext cx="8572500" cy="63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>
                <a:solidFill>
                  <a:srgbClr val="16324F"/>
                </a:solidFill>
                <a:latin typeface="Baloo"/>
                <a:ea typeface="Baloo"/>
                <a:cs typeface="Baloo"/>
                <a:sym typeface="Baloo"/>
              </a:rPr>
              <a:t>Christian Value Integration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9150" y="8162925"/>
            <a:ext cx="24765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TEACHER • TPR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9150" y="8543925"/>
            <a:ext cx="1381125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Who made the blue sky and the tall trees? God did! God made our beautiful world. [Smile warmly and clasp hands]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7259300" y="9277350"/>
            <a:ext cx="839047" cy="839047"/>
          </a:xfrm>
          <a:custGeom>
            <a:avLst/>
            <a:gdLst/>
            <a:ahLst/>
            <a:cxnLst/>
            <a:rect r="r" b="b" t="t" l="l"/>
            <a:pathLst>
              <a:path h="839047" w="839047">
                <a:moveTo>
                  <a:pt x="0" y="0"/>
                </a:moveTo>
                <a:lnTo>
                  <a:pt x="839047" y="0"/>
                </a:lnTo>
                <a:lnTo>
                  <a:pt x="839047" y="839047"/>
                </a:lnTo>
                <a:lnTo>
                  <a:pt x="0" y="839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293916" y="9591675"/>
            <a:ext cx="4749668" cy="820771"/>
            <a:chOff x="0" y="0"/>
            <a:chExt cx="6332890" cy="1094362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9050"/>
              <a:ext cx="3749777" cy="387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2000">
                  <a:solidFill>
                    <a:srgbClr val="000000"/>
                  </a:solidFill>
                  <a:latin typeface="Baloo"/>
                  <a:ea typeface="Baloo"/>
                  <a:cs typeface="Baloo"/>
                  <a:sym typeface="Baloo"/>
                </a:rPr>
                <a:t>LITTLE SEEDS!  MONTH 1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6637" y="647961"/>
              <a:ext cx="2946254" cy="446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1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20686" y="990600"/>
            <a:ext cx="9405314" cy="7932193"/>
          </a:xfrm>
          <a:custGeom>
            <a:avLst/>
            <a:gdLst/>
            <a:ahLst/>
            <a:cxnLst/>
            <a:rect r="r" b="b" t="t" l="l"/>
            <a:pathLst>
              <a:path h="7932193" w="9405314">
                <a:moveTo>
                  <a:pt x="0" y="0"/>
                </a:moveTo>
                <a:lnTo>
                  <a:pt x="9405314" y="0"/>
                </a:lnTo>
                <a:lnTo>
                  <a:pt x="9405314" y="7932193"/>
                </a:lnTo>
                <a:lnTo>
                  <a:pt x="0" y="79321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966" t="0" r="-24966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4775" y="4633037"/>
            <a:ext cx="762000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8"/>
              </a:lnSpc>
            </a:pPr>
            <a:r>
              <a:rPr lang="en-US" sz="5400">
                <a:solidFill>
                  <a:srgbClr val="1976D2"/>
                </a:solidFill>
                <a:latin typeface="Baloo"/>
                <a:ea typeface="Baloo"/>
                <a:cs typeface="Baloo"/>
                <a:sym typeface="Baloo"/>
              </a:rPr>
              <a:t>Your turn! Find blue!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811500" y="209550"/>
            <a:ext cx="1714500" cy="514350"/>
            <a:chOff x="0" y="0"/>
            <a:chExt cx="2286000" cy="685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6000" cy="685800"/>
            </a:xfrm>
            <a:custGeom>
              <a:avLst/>
              <a:gdLst/>
              <a:ahLst/>
              <a:cxnLst/>
              <a:rect r="r" b="b" t="t" l="l"/>
              <a:pathLst>
                <a:path h="685800" w="2286000">
                  <a:moveTo>
                    <a:pt x="342900" y="0"/>
                  </a:moveTo>
                  <a:lnTo>
                    <a:pt x="1943100" y="0"/>
                  </a:lnTo>
                  <a:cubicBezTo>
                    <a:pt x="2132478" y="0"/>
                    <a:pt x="2286000" y="153522"/>
                    <a:pt x="2286000" y="342900"/>
                  </a:cubicBezTo>
                  <a:lnTo>
                    <a:pt x="2286000" y="342900"/>
                  </a:lnTo>
                  <a:cubicBezTo>
                    <a:pt x="2286000" y="532278"/>
                    <a:pt x="2132478" y="685800"/>
                    <a:pt x="1943100" y="685800"/>
                  </a:cubicBezTo>
                  <a:lnTo>
                    <a:pt x="342900" y="685800"/>
                  </a:lnTo>
                  <a:cubicBezTo>
                    <a:pt x="153522" y="685800"/>
                    <a:pt x="0" y="532278"/>
                    <a:pt x="0" y="342900"/>
                  </a:cubicBezTo>
                  <a:lnTo>
                    <a:pt x="0" y="342900"/>
                  </a:ln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solidFill>
              <a:srgbClr val="1976D2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860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85800" y="295275"/>
            <a:ext cx="9334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 b="true">
                <a:solidFill>
                  <a:srgbClr val="16324F"/>
                </a:solidFill>
                <a:latin typeface="Nunito Bold"/>
                <a:ea typeface="Nunito Bold"/>
                <a:cs typeface="Nunito Bold"/>
                <a:sym typeface="Nunito Bold"/>
              </a:rPr>
              <a:t>Lesson 10 – Blue Hunt &amp; Week 2 Review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11500" y="323850"/>
            <a:ext cx="1714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225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11 / 13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9150" y="1104900"/>
            <a:ext cx="8572500" cy="1230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>
                <a:solidFill>
                  <a:srgbClr val="16324F"/>
                </a:solidFill>
                <a:latin typeface="Baloo"/>
                <a:ea typeface="Baloo"/>
                <a:cs typeface="Baloo"/>
                <a:sym typeface="Baloo"/>
              </a:rPr>
              <a:t>Real World Connection Scavenger Hunt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9150" y="8162925"/>
            <a:ext cx="24765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TEACHER • TPR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9150" y="8543925"/>
            <a:ext cx="1381125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Quick! Stand up! Find something blue in your house! Bring it to the camera! [Cheer loudly when they return with an object]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7259300" y="9277350"/>
            <a:ext cx="839047" cy="839047"/>
          </a:xfrm>
          <a:custGeom>
            <a:avLst/>
            <a:gdLst/>
            <a:ahLst/>
            <a:cxnLst/>
            <a:rect r="r" b="b" t="t" l="l"/>
            <a:pathLst>
              <a:path h="839047" w="839047">
                <a:moveTo>
                  <a:pt x="0" y="0"/>
                </a:moveTo>
                <a:lnTo>
                  <a:pt x="839047" y="0"/>
                </a:lnTo>
                <a:lnTo>
                  <a:pt x="839047" y="839047"/>
                </a:lnTo>
                <a:lnTo>
                  <a:pt x="0" y="839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293916" y="9591675"/>
            <a:ext cx="4749668" cy="820771"/>
            <a:chOff x="0" y="0"/>
            <a:chExt cx="6332890" cy="1094362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9050"/>
              <a:ext cx="3749777" cy="387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2000">
                  <a:solidFill>
                    <a:srgbClr val="000000"/>
                  </a:solidFill>
                  <a:latin typeface="Baloo"/>
                  <a:ea typeface="Baloo"/>
                  <a:cs typeface="Baloo"/>
                  <a:sym typeface="Baloo"/>
                </a:rPr>
                <a:t>LITTLE SEEDS!  MONTH 1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6637" y="647961"/>
              <a:ext cx="2946254" cy="446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1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15677" y="990600"/>
            <a:ext cx="9410323" cy="7936417"/>
          </a:xfrm>
          <a:custGeom>
            <a:avLst/>
            <a:gdLst/>
            <a:ahLst/>
            <a:cxnLst/>
            <a:rect r="r" b="b" t="t" l="l"/>
            <a:pathLst>
              <a:path h="7936417" w="9410323">
                <a:moveTo>
                  <a:pt x="0" y="0"/>
                </a:moveTo>
                <a:lnTo>
                  <a:pt x="9410323" y="0"/>
                </a:lnTo>
                <a:lnTo>
                  <a:pt x="9410323" y="7936417"/>
                </a:lnTo>
                <a:lnTo>
                  <a:pt x="0" y="7936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966" t="0" r="-24966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2858750" y="3333750"/>
            <a:ext cx="1809750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75"/>
              </a:lnSpc>
            </a:pPr>
            <a:r>
              <a:rPr lang="en-US" sz="11250">
                <a:solidFill>
                  <a:srgbClr val="1976D2"/>
                </a:solidFill>
                <a:latin typeface="Baloo"/>
                <a:ea typeface="Baloo"/>
                <a:cs typeface="Baloo"/>
                <a:sym typeface="Baloo"/>
              </a:rPr>
              <a:t>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727657" y="5348145"/>
            <a:ext cx="2190750" cy="409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3"/>
              </a:lnSpc>
            </a:pPr>
            <a:r>
              <a:rPr lang="en-US" sz="2974">
                <a:solidFill>
                  <a:srgbClr val="000000"/>
                </a:solidFill>
                <a:latin typeface="Baloo"/>
                <a:ea typeface="Baloo"/>
                <a:cs typeface="Baloo"/>
                <a:sym typeface="Baloo"/>
              </a:rPr>
              <a:t>BLUE BIRD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72875" y="6252543"/>
            <a:ext cx="2190750" cy="38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8"/>
              </a:lnSpc>
            </a:pPr>
            <a:r>
              <a:rPr lang="en-US" sz="2874">
                <a:solidFill>
                  <a:srgbClr val="000000"/>
                </a:solidFill>
                <a:latin typeface="Baloo"/>
                <a:ea typeface="Baloo"/>
                <a:cs typeface="Baloo"/>
                <a:sym typeface="Baloo"/>
              </a:rPr>
              <a:t>LETTER 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30275" y="7475697"/>
            <a:ext cx="2000250" cy="353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3"/>
              </a:lnSpc>
            </a:pPr>
            <a:r>
              <a:rPr lang="en-US" sz="2574">
                <a:solidFill>
                  <a:srgbClr val="000000"/>
                </a:solidFill>
                <a:latin typeface="Baloo"/>
                <a:ea typeface="Baloo"/>
                <a:cs typeface="Baloo"/>
                <a:sym typeface="Baloo"/>
              </a:rPr>
              <a:t>TALL TREE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4981575"/>
            <a:ext cx="7620000" cy="106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6"/>
              </a:lnSpc>
            </a:pPr>
            <a:r>
              <a:rPr lang="en-US" sz="7800">
                <a:solidFill>
                  <a:srgbClr val="F4B942"/>
                </a:solidFill>
                <a:latin typeface="Baloo"/>
                <a:ea typeface="Baloo"/>
                <a:cs typeface="Baloo"/>
                <a:sym typeface="Baloo"/>
              </a:rPr>
              <a:t>You did it!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811500" y="209550"/>
            <a:ext cx="1714500" cy="514350"/>
            <a:chOff x="0" y="0"/>
            <a:chExt cx="2286000" cy="685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6000" cy="685800"/>
            </a:xfrm>
            <a:custGeom>
              <a:avLst/>
              <a:gdLst/>
              <a:ahLst/>
              <a:cxnLst/>
              <a:rect r="r" b="b" t="t" l="l"/>
              <a:pathLst>
                <a:path h="685800" w="2286000">
                  <a:moveTo>
                    <a:pt x="342900" y="0"/>
                  </a:moveTo>
                  <a:lnTo>
                    <a:pt x="1943100" y="0"/>
                  </a:lnTo>
                  <a:cubicBezTo>
                    <a:pt x="2132478" y="0"/>
                    <a:pt x="2286000" y="153522"/>
                    <a:pt x="2286000" y="342900"/>
                  </a:cubicBezTo>
                  <a:lnTo>
                    <a:pt x="2286000" y="342900"/>
                  </a:lnTo>
                  <a:cubicBezTo>
                    <a:pt x="2286000" y="532278"/>
                    <a:pt x="2132478" y="685800"/>
                    <a:pt x="1943100" y="685800"/>
                  </a:cubicBezTo>
                  <a:lnTo>
                    <a:pt x="342900" y="685800"/>
                  </a:lnTo>
                  <a:cubicBezTo>
                    <a:pt x="153522" y="685800"/>
                    <a:pt x="0" y="532278"/>
                    <a:pt x="0" y="342900"/>
                  </a:cubicBezTo>
                  <a:lnTo>
                    <a:pt x="0" y="342900"/>
                  </a:ln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solidFill>
              <a:srgbClr val="1976D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860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85800" y="295275"/>
            <a:ext cx="9334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 b="true">
                <a:solidFill>
                  <a:srgbClr val="16324F"/>
                </a:solidFill>
                <a:latin typeface="Nunito Bold"/>
                <a:ea typeface="Nunito Bold"/>
                <a:cs typeface="Nunito Bold"/>
                <a:sym typeface="Nunito Bold"/>
              </a:rPr>
              <a:t>Lesson 10 – Blue Hunt &amp; Week 2 Review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811500" y="323850"/>
            <a:ext cx="1714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225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12 / 13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3900" y="1143000"/>
            <a:ext cx="8572500" cy="63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>
                <a:solidFill>
                  <a:srgbClr val="16324F"/>
                </a:solidFill>
                <a:latin typeface="Baloo"/>
                <a:ea typeface="Baloo"/>
                <a:cs typeface="Baloo"/>
                <a:sym typeface="Baloo"/>
              </a:rPr>
              <a:t>Lesson Review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9150" y="8162925"/>
            <a:ext cx="24765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TEACHER • TPR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9150" y="8543925"/>
            <a:ext cx="1381125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You are a star! Say: Blue Bird! Say: Letter B! Say: Tall Tree! Amazing!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7259300" y="9277350"/>
            <a:ext cx="839047" cy="839047"/>
          </a:xfrm>
          <a:custGeom>
            <a:avLst/>
            <a:gdLst/>
            <a:ahLst/>
            <a:cxnLst/>
            <a:rect r="r" b="b" t="t" l="l"/>
            <a:pathLst>
              <a:path h="839047" w="839047">
                <a:moveTo>
                  <a:pt x="0" y="0"/>
                </a:moveTo>
                <a:lnTo>
                  <a:pt x="839047" y="0"/>
                </a:lnTo>
                <a:lnTo>
                  <a:pt x="839047" y="839047"/>
                </a:lnTo>
                <a:lnTo>
                  <a:pt x="0" y="839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4293916" y="9591675"/>
            <a:ext cx="4749668" cy="820771"/>
            <a:chOff x="0" y="0"/>
            <a:chExt cx="6332890" cy="1094362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19050"/>
              <a:ext cx="3749777" cy="387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2000">
                  <a:solidFill>
                    <a:srgbClr val="000000"/>
                  </a:solidFill>
                  <a:latin typeface="Baloo"/>
                  <a:ea typeface="Baloo"/>
                  <a:cs typeface="Baloo"/>
                  <a:sym typeface="Baloo"/>
                </a:rPr>
                <a:t>LITTLE SEEDS!  MONTH 1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386637" y="647961"/>
              <a:ext cx="2946254" cy="446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1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78309" y="990600"/>
            <a:ext cx="9447691" cy="7967933"/>
          </a:xfrm>
          <a:custGeom>
            <a:avLst/>
            <a:gdLst/>
            <a:ahLst/>
            <a:cxnLst/>
            <a:rect r="r" b="b" t="t" l="l"/>
            <a:pathLst>
              <a:path h="7967933" w="9447691">
                <a:moveTo>
                  <a:pt x="0" y="0"/>
                </a:moveTo>
                <a:lnTo>
                  <a:pt x="9447691" y="0"/>
                </a:lnTo>
                <a:lnTo>
                  <a:pt x="9447691" y="7967933"/>
                </a:lnTo>
                <a:lnTo>
                  <a:pt x="0" y="7967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966" t="0" r="-24966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0" y="4731829"/>
            <a:ext cx="7620000" cy="120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80"/>
              </a:lnSpc>
            </a:pPr>
            <a:r>
              <a:rPr lang="en-US" sz="9000">
                <a:solidFill>
                  <a:srgbClr val="4CAF65"/>
                </a:solidFill>
                <a:latin typeface="Baloo"/>
                <a:ea typeface="Baloo"/>
                <a:cs typeface="Baloo"/>
                <a:sym typeface="Baloo"/>
              </a:rPr>
              <a:t>Goodbye!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811500" y="209550"/>
            <a:ext cx="1714500" cy="514350"/>
            <a:chOff x="0" y="0"/>
            <a:chExt cx="2286000" cy="685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6000" cy="685800"/>
            </a:xfrm>
            <a:custGeom>
              <a:avLst/>
              <a:gdLst/>
              <a:ahLst/>
              <a:cxnLst/>
              <a:rect r="r" b="b" t="t" l="l"/>
              <a:pathLst>
                <a:path h="685800" w="2286000">
                  <a:moveTo>
                    <a:pt x="342900" y="0"/>
                  </a:moveTo>
                  <a:lnTo>
                    <a:pt x="1943100" y="0"/>
                  </a:lnTo>
                  <a:cubicBezTo>
                    <a:pt x="2132478" y="0"/>
                    <a:pt x="2286000" y="153522"/>
                    <a:pt x="2286000" y="342900"/>
                  </a:cubicBezTo>
                  <a:lnTo>
                    <a:pt x="2286000" y="342900"/>
                  </a:lnTo>
                  <a:cubicBezTo>
                    <a:pt x="2286000" y="532278"/>
                    <a:pt x="2132478" y="685800"/>
                    <a:pt x="1943100" y="685800"/>
                  </a:cubicBezTo>
                  <a:lnTo>
                    <a:pt x="342900" y="685800"/>
                  </a:lnTo>
                  <a:cubicBezTo>
                    <a:pt x="153522" y="685800"/>
                    <a:pt x="0" y="532278"/>
                    <a:pt x="0" y="342900"/>
                  </a:cubicBezTo>
                  <a:lnTo>
                    <a:pt x="0" y="342900"/>
                  </a:ln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solidFill>
              <a:srgbClr val="1976D2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860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85800" y="295275"/>
            <a:ext cx="9334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 b="true">
                <a:solidFill>
                  <a:srgbClr val="16324F"/>
                </a:solidFill>
                <a:latin typeface="Nunito Bold"/>
                <a:ea typeface="Nunito Bold"/>
                <a:cs typeface="Nunito Bold"/>
                <a:sym typeface="Nunito Bold"/>
              </a:rPr>
              <a:t>Lesson 10 – Blue Hunt &amp; Week 2 Review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11500" y="323850"/>
            <a:ext cx="1714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2"/>
              </a:lnSpc>
            </a:pPr>
            <a:r>
              <a:rPr lang="en-US" sz="225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13 / 13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2385" y="1143000"/>
            <a:ext cx="8572500" cy="1230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>
                <a:solidFill>
                  <a:srgbClr val="16324F"/>
                </a:solidFill>
                <a:latin typeface="Baloo"/>
                <a:ea typeface="Baloo"/>
                <a:cs typeface="Baloo"/>
                <a:sym typeface="Baloo"/>
              </a:rPr>
              <a:t>Goodbye &amp; Virtual Garden Reward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9150" y="8162925"/>
            <a:ext cx="2476500" cy="24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TEACHER • TPR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9150" y="8543925"/>
            <a:ext cx="1381125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An Eco-Drop for you! Look, the blue bird loves your tall tree! Goodbye, see you next week! [Wave]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7259300" y="9277350"/>
            <a:ext cx="839047" cy="839047"/>
          </a:xfrm>
          <a:custGeom>
            <a:avLst/>
            <a:gdLst/>
            <a:ahLst/>
            <a:cxnLst/>
            <a:rect r="r" b="b" t="t" l="l"/>
            <a:pathLst>
              <a:path h="839047" w="839047">
                <a:moveTo>
                  <a:pt x="0" y="0"/>
                </a:moveTo>
                <a:lnTo>
                  <a:pt x="839047" y="0"/>
                </a:lnTo>
                <a:lnTo>
                  <a:pt x="839047" y="839047"/>
                </a:lnTo>
                <a:lnTo>
                  <a:pt x="0" y="8390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4293916" y="9591675"/>
            <a:ext cx="4749668" cy="820771"/>
            <a:chOff x="0" y="0"/>
            <a:chExt cx="6332890" cy="1094362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9050"/>
              <a:ext cx="3749777" cy="387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2000">
                  <a:solidFill>
                    <a:srgbClr val="000000"/>
                  </a:solidFill>
                  <a:latin typeface="Baloo"/>
                  <a:ea typeface="Baloo"/>
                  <a:cs typeface="Baloo"/>
                  <a:sym typeface="Baloo"/>
                </a:rPr>
                <a:t>LITTLE SEEDS!  MONTH 1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86637" y="647961"/>
              <a:ext cx="2946254" cy="446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1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DAHUOJRxTIc</dc:identifier>
  <dcterms:modified xsi:type="dcterms:W3CDTF">2011-08-01T06:04:30Z</dcterms:modified>
  <cp:revision>1</cp:revision>
  <dc:title>RemoEd L1M1 Lesson 10 &amp; Review</dc:title>
</cp:coreProperties>
</file>