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unito" panose="00000000000000000000" charset="1"/>
      <p:regular r:id="rId19"/>
    </p:embeddedFont>
    <p:embeddedFont>
      <p:font typeface="Fredoka" panose="02000000000000000000" charset="1"/>
      <p:regular r:id="rId20"/>
    </p:embeddedFont>
    <p:embeddedFont>
      <p:font typeface="Nunito Bold" panose="00000000000000000000" charset="1"/>
      <p:regular r:id="rId21"/>
    </p:embeddedFont>
    <p:embeddedFont>
      <p:font typeface="Bobby Jones" panose="00000000000000000000" charset="1"/>
      <p:regular r:id="rId22"/>
    </p:embeddedFont>
    <p:embeddedFont>
      <p:font typeface="ABeeZee" panose="02000000000000000000" charset="1"/>
      <p:regular r:id="rId23"/>
    </p:embeddedFont>
    <p:embeddedFont>
      <p:font typeface="ABeeZee Bold" panose="02000000000000000000" charset="1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font" Target="/ppt/fonts/font20.fntdata" Id="rId20" /><Relationship Type="http://schemas.openxmlformats.org/officeDocument/2006/relationships/font" Target="/ppt/fonts/font21.fntdata" Id="rId21" /><Relationship Type="http://schemas.openxmlformats.org/officeDocument/2006/relationships/font" Target="/ppt/fonts/font22.fntdata" Id="rId22" /><Relationship Type="http://schemas.openxmlformats.org/officeDocument/2006/relationships/font" Target="/ppt/fonts/font23.fntdata" Id="rId23" /><Relationship Type="http://schemas.openxmlformats.org/officeDocument/2006/relationships/font" Target="/ppt/fonts/font24.fntdata" Id="rId24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jpeg" Id="rId2" /><Relationship Type="http://schemas.openxmlformats.org/officeDocument/2006/relationships/image" Target="/ppt/media/image2.jpe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Relationship Type="http://schemas.openxmlformats.org/officeDocument/2006/relationships/image" Target="/ppt/media/image2.jpe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2.png" Id="rId10" /><Relationship Type="http://schemas.openxmlformats.org/officeDocument/2006/relationships/image" Target="/ppt/media/image13.png" Id="rId11" /><Relationship Type="http://schemas.openxmlformats.org/officeDocument/2006/relationships/image" Target="/ppt/media/image14.png" Id="rId12" /><Relationship Type="http://schemas.openxmlformats.org/officeDocument/2006/relationships/image" Target="/ppt/media/image15.png" Id="rId13" /><Relationship Type="http://schemas.openxmlformats.org/officeDocument/2006/relationships/image" Target="/ppt/media/image16.png" Id="rId14" /><Relationship Type="http://schemas.openxmlformats.org/officeDocument/2006/relationships/image" Target="/ppt/media/image17.png" Id="rId15" /><Relationship Type="http://schemas.openxmlformats.org/officeDocument/2006/relationships/image" Target="/ppt/media/image18.png" Id="rId16" /><Relationship Type="http://schemas.openxmlformats.org/officeDocument/2006/relationships/image" Target="/ppt/media/image19.png" Id="rId17" /><Relationship Type="http://schemas.openxmlformats.org/officeDocument/2006/relationships/image" Target="/ppt/media/image4.png" Id="rId2" /><Relationship Type="http://schemas.openxmlformats.org/officeDocument/2006/relationships/image" Target="/ppt/media/image5.png" Id="rId3" /><Relationship Type="http://schemas.openxmlformats.org/officeDocument/2006/relationships/image" Target="/ppt/media/image6.png" Id="rId4" /><Relationship Type="http://schemas.openxmlformats.org/officeDocument/2006/relationships/image" Target="/ppt/media/image7.png" Id="rId5" /><Relationship Type="http://schemas.openxmlformats.org/officeDocument/2006/relationships/image" Target="/ppt/media/image8.png" Id="rId6" /><Relationship Type="http://schemas.openxmlformats.org/officeDocument/2006/relationships/image" Target="/ppt/media/image9.png" Id="rId7" /><Relationship Type="http://schemas.openxmlformats.org/officeDocument/2006/relationships/image" Target="/ppt/media/image10.png" Id="rId8" /><Relationship Type="http://schemas.openxmlformats.org/officeDocument/2006/relationships/image" Target="/ppt/media/image11.png" Id="rI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0.jpeg" Id="rId2" /><Relationship Type="http://schemas.openxmlformats.org/officeDocument/2006/relationships/image" Target="/ppt/media/image2.jpe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.jpe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1.jpeg" Id="rId2" /><Relationship Type="http://schemas.openxmlformats.org/officeDocument/2006/relationships/image" Target="/ppt/media/image2.jpe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.jpeg" Id="rI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Relationship Type="http://schemas.openxmlformats.org/officeDocument/2006/relationships/image" Target="/ppt/media/image2.jpe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2.jpeg" Id="rId2" /><Relationship Type="http://schemas.openxmlformats.org/officeDocument/2006/relationships/image" Target="/ppt/media/image2.jpe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3.jpeg" Id="rId2" /><Relationship Type="http://schemas.openxmlformats.org/officeDocument/2006/relationships/image" Target="/ppt/media/image2.jpe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4.jpeg" Id="rId2" /><Relationship Type="http://schemas.openxmlformats.org/officeDocument/2006/relationships/image" Target="/ppt/media/image2.jpe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5.jpeg" Id="rId2" /><Relationship Type="http://schemas.openxmlformats.org/officeDocument/2006/relationships/image" Target="/ppt/media/image21.jpeg" Id="rId3" /><Relationship Type="http://schemas.openxmlformats.org/officeDocument/2006/relationships/image" Target="/ppt/media/image2.jpeg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6.jpeg" Id="rId2" /><Relationship Type="http://schemas.openxmlformats.org/officeDocument/2006/relationships/image" Target="/ppt/media/image2.jpeg" Id="rId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Say: “Hello, Little Seeds!” Wave and invite everyone to wave back.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0662" y="504825"/>
            <a:ext cx="13496042" cy="1302919"/>
            <a:chOff x="0" y="0"/>
            <a:chExt cx="17994723" cy="17372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994723" cy="1737226"/>
            </a:xfrm>
            <a:custGeom>
              <a:avLst/>
              <a:gdLst/>
              <a:ahLst/>
              <a:cxnLst/>
              <a:rect r="r" b="b" t="t" l="l"/>
              <a:pathLst>
                <a:path h="1737226" w="17994723">
                  <a:moveTo>
                    <a:pt x="0" y="0"/>
                  </a:moveTo>
                  <a:lnTo>
                    <a:pt x="17994723" y="0"/>
                  </a:lnTo>
                  <a:lnTo>
                    <a:pt x="17994723" y="1737226"/>
                  </a:lnTo>
                  <a:lnTo>
                    <a:pt x="0" y="1737226"/>
                  </a:lnTo>
                  <a:close/>
                </a:path>
              </a:pathLst>
            </a:custGeom>
            <a:solidFill>
              <a:srgbClr val="F7F3E8">
                <a:alpha val="8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994723" cy="1775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23900" y="657225"/>
            <a:ext cx="1297305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LESSON 4  -  DRAWING STRAIGHT DOWN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  / 13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68300"/>
              <a:ext cx="10414000" cy="1187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9"/>
                </a:lnSpc>
              </a:pPr>
              <a:r>
                <a:rPr lang="en-US" sz="6450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Look up!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Point up together. Ask: “What is in the sky?”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31941" y="9245221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573966" y="9770489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50841" y="234571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69891" y="301246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  / 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95700" y="0"/>
            <a:ext cx="7191375" cy="2571750"/>
          </a:xfrm>
          <a:custGeom>
            <a:avLst/>
            <a:gdLst/>
            <a:ahLst/>
            <a:cxnLst/>
            <a:rect r="r" b="b" t="t" l="l"/>
            <a:pathLst>
              <a:path h="2571750" w="7191375">
                <a:moveTo>
                  <a:pt x="0" y="0"/>
                </a:moveTo>
                <a:lnTo>
                  <a:pt x="7191375" y="0"/>
                </a:lnTo>
                <a:lnTo>
                  <a:pt x="7191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00625" y="2143125"/>
            <a:ext cx="4581525" cy="5362575"/>
          </a:xfrm>
          <a:custGeom>
            <a:avLst/>
            <a:gdLst/>
            <a:ahLst/>
            <a:cxnLst/>
            <a:rect r="r" b="b" t="t" l="l"/>
            <a:pathLst>
              <a:path h="5362575" w="4581525">
                <a:moveTo>
                  <a:pt x="0" y="0"/>
                </a:moveTo>
                <a:lnTo>
                  <a:pt x="4581525" y="0"/>
                </a:lnTo>
                <a:lnTo>
                  <a:pt x="4581525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4925" y="3429000"/>
            <a:ext cx="3924300" cy="4714875"/>
          </a:xfrm>
          <a:custGeom>
            <a:avLst/>
            <a:gdLst/>
            <a:ahLst/>
            <a:cxnLst/>
            <a:rect r="r" b="b" t="t" l="l"/>
            <a:pathLst>
              <a:path h="4714875" w="3924300">
                <a:moveTo>
                  <a:pt x="0" y="0"/>
                </a:moveTo>
                <a:lnTo>
                  <a:pt x="3924300" y="0"/>
                </a:lnTo>
                <a:lnTo>
                  <a:pt x="39243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2848" y="5094603"/>
            <a:ext cx="1901952" cy="275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0"/>
              </a:lnSpc>
            </a:pPr>
            <a:r>
              <a:rPr lang="en-US" sz="5350">
                <a:solidFill>
                  <a:srgbClr val="003B46"/>
                </a:solidFill>
                <a:latin typeface="Bobby Jones"/>
                <a:ea typeface="Bobby Jones"/>
                <a:cs typeface="Bobby Jones"/>
                <a:sym typeface="Bobby Jones"/>
              </a:rPr>
              <a:t>Rain</a:t>
            </a:r>
          </a:p>
          <a:p>
            <a:pPr algn="ctr">
              <a:lnSpc>
                <a:spcPts val="5350"/>
              </a:lnSpc>
            </a:pPr>
            <a:r>
              <a:rPr lang="en-US" sz="5350">
                <a:solidFill>
                  <a:srgbClr val="5B801F"/>
                </a:solidFill>
                <a:latin typeface="Bobby Jones"/>
                <a:ea typeface="Bobby Jones"/>
                <a:cs typeface="Bobby Jones"/>
                <a:sym typeface="Bobby Jones"/>
              </a:rPr>
              <a:t>Helps</a:t>
            </a:r>
          </a:p>
          <a:p>
            <a:pPr algn="ctr">
              <a:lnSpc>
                <a:spcPts val="5350"/>
              </a:lnSpc>
            </a:pPr>
            <a:r>
              <a:rPr lang="en-US" sz="5350">
                <a:solidFill>
                  <a:srgbClr val="D1491F"/>
                </a:solidFill>
                <a:latin typeface="Bobby Jones"/>
                <a:ea typeface="Bobby Jones"/>
                <a:cs typeface="Bobby Jones"/>
                <a:sym typeface="Bobby Jones"/>
              </a:rPr>
              <a:t>Things</a:t>
            </a:r>
          </a:p>
          <a:p>
            <a:pPr algn="ctr">
              <a:lnSpc>
                <a:spcPts val="5350"/>
              </a:lnSpc>
            </a:pPr>
            <a:r>
              <a:rPr lang="en-US" sz="5350">
                <a:solidFill>
                  <a:srgbClr val="7B3C63"/>
                </a:solidFill>
                <a:latin typeface="Bobby Jones"/>
                <a:ea typeface="Bobby Jones"/>
                <a:cs typeface="Bobby Jones"/>
                <a:sym typeface="Bobby Jones"/>
              </a:rPr>
              <a:t>Grow!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40000" y="1285875"/>
            <a:ext cx="1962150" cy="2143125"/>
          </a:xfrm>
          <a:custGeom>
            <a:avLst/>
            <a:gdLst/>
            <a:ahLst/>
            <a:cxnLst/>
            <a:rect r="r" b="b" t="t" l="l"/>
            <a:pathLst>
              <a:path h="2143125" w="1962150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01850" y="6210300"/>
            <a:ext cx="2400300" cy="3009900"/>
          </a:xfrm>
          <a:custGeom>
            <a:avLst/>
            <a:gdLst/>
            <a:ahLst/>
            <a:cxnLst/>
            <a:rect r="r" b="b" t="t" l="l"/>
            <a:pathLst>
              <a:path h="3009900" w="2400300">
                <a:moveTo>
                  <a:pt x="0" y="0"/>
                </a:moveTo>
                <a:lnTo>
                  <a:pt x="2400300" y="0"/>
                </a:lnTo>
                <a:lnTo>
                  <a:pt x="24003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194400">
            <a:off x="15256832" y="6657799"/>
            <a:ext cx="166420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3010">
                <a:solidFill>
                  <a:srgbClr val="5B801F"/>
                </a:solidFill>
                <a:latin typeface="Bobby Jones"/>
                <a:ea typeface="Bobby Jones"/>
                <a:cs typeface="Bobby Jones"/>
                <a:sym typeface="Bobby Jones"/>
              </a:rPr>
              <a:t>Be kind</a:t>
            </a:r>
          </a:p>
          <a:p>
            <a:pPr algn="ctr">
              <a:lnSpc>
                <a:spcPts val="3612"/>
              </a:lnSpc>
            </a:pPr>
            <a:r>
              <a:rPr lang="en-US" sz="3010">
                <a:solidFill>
                  <a:srgbClr val="5B801F"/>
                </a:solidFill>
                <a:latin typeface="Bobby Jones"/>
                <a:ea typeface="Bobby Jones"/>
                <a:cs typeface="Bobby Jones"/>
                <a:sym typeface="Bobby Jones"/>
              </a:rPr>
              <a:t>to nature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801850" y="363855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00925" y="1714500"/>
            <a:ext cx="6753225" cy="8572500"/>
          </a:xfrm>
          <a:custGeom>
            <a:avLst/>
            <a:gdLst/>
            <a:ahLst/>
            <a:cxnLst/>
            <a:rect r="r" b="b" t="t" l="l"/>
            <a:pathLst>
              <a:path h="8572500" w="6753225">
                <a:moveTo>
                  <a:pt x="0" y="0"/>
                </a:moveTo>
                <a:lnTo>
                  <a:pt x="6753225" y="0"/>
                </a:lnTo>
                <a:lnTo>
                  <a:pt x="6753225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3550" y="9001125"/>
            <a:ext cx="2628900" cy="1285875"/>
          </a:xfrm>
          <a:custGeom>
            <a:avLst/>
            <a:gdLst/>
            <a:ahLst/>
            <a:cxnLst/>
            <a:rect r="r" b="b" t="t" l="l"/>
            <a:pathLst>
              <a:path h="1285875" w="2628900">
                <a:moveTo>
                  <a:pt x="0" y="0"/>
                </a:moveTo>
                <a:lnTo>
                  <a:pt x="2628900" y="0"/>
                </a:lnTo>
                <a:lnTo>
                  <a:pt x="2628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52925" y="9001125"/>
            <a:ext cx="2838450" cy="1285875"/>
          </a:xfrm>
          <a:custGeom>
            <a:avLst/>
            <a:gdLst/>
            <a:ahLst/>
            <a:cxnLst/>
            <a:rect r="r" b="b" t="t" l="l"/>
            <a:pathLst>
              <a:path h="1285875" w="2838450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25550" y="9210675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01850" y="9210675"/>
            <a:ext cx="1752600" cy="1076325"/>
          </a:xfrm>
          <a:custGeom>
            <a:avLst/>
            <a:gdLst/>
            <a:ahLst/>
            <a:cxnLst/>
            <a:rect r="r" b="b" t="t" l="l"/>
            <a:pathLst>
              <a:path h="1076325" w="1752600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7700" y="638175"/>
            <a:ext cx="3714750" cy="1295400"/>
          </a:xfrm>
          <a:custGeom>
            <a:avLst/>
            <a:gdLst/>
            <a:ahLst/>
            <a:cxnLst/>
            <a:rect r="r" b="b" t="t" l="l"/>
            <a:pathLst>
              <a:path h="1295400" w="3714750">
                <a:moveTo>
                  <a:pt x="0" y="0"/>
                </a:moveTo>
                <a:lnTo>
                  <a:pt x="3714750" y="0"/>
                </a:lnTo>
                <a:lnTo>
                  <a:pt x="3714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9536" y="958469"/>
            <a:ext cx="1938528" cy="8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0"/>
              </a:lnSpc>
            </a:pPr>
            <a:r>
              <a:rPr lang="en-US" sz="6520">
                <a:solidFill>
                  <a:srgbClr val="003B46"/>
                </a:solidFill>
                <a:latin typeface="Fredoka"/>
                <a:ea typeface="Fredoka"/>
                <a:cs typeface="Fredoka"/>
                <a:sym typeface="Fredoka"/>
              </a:rPr>
              <a:t>Rain.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887700" y="209550"/>
            <a:ext cx="1752600" cy="647700"/>
          </a:xfrm>
          <a:custGeom>
            <a:avLst/>
            <a:gdLst/>
            <a:ahLst/>
            <a:cxnLst/>
            <a:rect r="r" b="b" t="t" l="l"/>
            <a:pathLst>
              <a:path h="647700" w="17526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7700" y="7924800"/>
            <a:ext cx="12639675" cy="1295400"/>
          </a:xfrm>
          <a:custGeom>
            <a:avLst/>
            <a:gdLst/>
            <a:ahLst/>
            <a:cxnLst/>
            <a:rect r="r" b="b" t="t" l="l"/>
            <a:pathLst>
              <a:path h="1295400" w="12639675">
                <a:moveTo>
                  <a:pt x="0" y="0"/>
                </a:moveTo>
                <a:lnTo>
                  <a:pt x="12639675" y="0"/>
                </a:lnTo>
                <a:lnTo>
                  <a:pt x="12639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5568" y="8469736"/>
            <a:ext cx="4224528" cy="25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911">
                <a:solidFill>
                  <a:srgbClr val="003B46"/>
                </a:solidFill>
                <a:latin typeface="ABeeZee"/>
                <a:ea typeface="ABeeZee"/>
                <a:cs typeface="ABeeZee"/>
                <a:sym typeface="ABeeZee"/>
              </a:rPr>
              <a:t>Listen: rain. Say it together — “Rain.”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7192625" y="92106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081760" y="9844090"/>
            <a:ext cx="2743200" cy="23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69"/>
              </a:lnSpc>
            </a:pPr>
            <a:r>
              <a:rPr lang="en-US" sz="1769">
                <a:solidFill>
                  <a:srgbClr val="FFFFFF"/>
                </a:solidFill>
                <a:latin typeface="ABeeZee Bold"/>
                <a:ea typeface="ABeeZee Bold"/>
                <a:cs typeface="ABeeZee Bold"/>
                <a:sym typeface="ABeeZee Bold"/>
              </a:rPr>
              <a:t>LITTLE SEEDS!  MONTH 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22624" y="391030"/>
            <a:ext cx="658368" cy="25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5"/>
              </a:lnSpc>
            </a:pPr>
            <a:r>
              <a:rPr lang="en-US" sz="1805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3 / 13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318736" y="9835585"/>
            <a:ext cx="713232" cy="11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"/>
              </a:lnSpc>
            </a:pPr>
            <a:r>
              <a:rPr lang="en-US" sz="954">
                <a:solidFill>
                  <a:srgbClr val="003B46"/>
                </a:solidFill>
                <a:latin typeface="Fredoka"/>
                <a:ea typeface="Fredoka"/>
                <a:cs typeface="Fredoka"/>
                <a:sym typeface="Fredoka"/>
              </a:rPr>
              <a:t>RimberioFi</a:t>
            </a:r>
          </a:p>
        </p:txBody>
      </p:sp>
      <p:sp>
        <p:nvSpPr>
          <p:cNvPr name="TextBox 25" id="25"/>
          <p:cNvSpPr txBox="true"/>
          <p:nvPr/>
        </p:nvSpPr>
        <p:spPr>
          <a:xfrm rot="194400">
            <a:off x="9931095" y="6573988"/>
            <a:ext cx="133502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4"/>
              </a:lnSpc>
            </a:pPr>
            <a:r>
              <a:rPr lang="en-US" sz="9036">
                <a:solidFill>
                  <a:srgbClr val="F4D4D4"/>
                </a:solidFill>
                <a:latin typeface="Bobby Jones"/>
                <a:ea typeface="Bobby Jones"/>
                <a:cs typeface="Bobby Jones"/>
                <a:sym typeface="Bobby Jones"/>
              </a:rPr>
              <a:t>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68300"/>
              <a:ext cx="10414000" cy="1187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9"/>
                </a:lnSpc>
              </a:pPr>
              <a:r>
                <a:rPr lang="en-US" sz="6450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Down, down, down.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Wiggle fingers from high to low. Move and say: “Down, down, down.”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4  / 13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9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781050"/>
            <a:ext cx="8096250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>
                <a:solidFill>
                  <a:srgbClr val="174B5F"/>
                </a:solidFill>
                <a:latin typeface="Fredoka"/>
                <a:ea typeface="Fredoka"/>
                <a:cs typeface="Fredoka"/>
                <a:sym typeface="Fredoka"/>
              </a:rPr>
              <a:t>Trace down.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34375" y="2219325"/>
            <a:ext cx="16192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C95C"/>
                </a:solidFill>
                <a:latin typeface="Fredoka"/>
                <a:ea typeface="Fredoka"/>
                <a:cs typeface="Fredoka"/>
                <a:sym typeface="Fredoka"/>
              </a:rPr>
              <a:t>★</a:t>
            </a:r>
          </a:p>
        </p:txBody>
      </p:sp>
      <p:sp>
        <p:nvSpPr>
          <p:cNvPr name="AutoShape 7" id="7"/>
          <p:cNvSpPr/>
          <p:nvPr/>
        </p:nvSpPr>
        <p:spPr>
          <a:xfrm>
            <a:off x="9144000" y="3714750"/>
            <a:ext cx="0" cy="0"/>
          </a:xfrm>
          <a:prstGeom prst="line">
            <a:avLst/>
          </a:prstGeom>
          <a:ln cap="flat" w="9525">
            <a:solidFill>
              <a:srgbClr val="4DB9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144000" y="3714750"/>
            <a:ext cx="0" cy="3619500"/>
          </a:xfrm>
          <a:prstGeom prst="line">
            <a:avLst/>
          </a:prstGeom>
          <a:ln cap="rnd" w="114300">
            <a:solidFill>
              <a:srgbClr val="4DB9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810625" y="6953250"/>
            <a:ext cx="333375" cy="381000"/>
          </a:xfrm>
          <a:prstGeom prst="line">
            <a:avLst/>
          </a:prstGeom>
          <a:ln cap="rnd" w="95250">
            <a:solidFill>
              <a:srgbClr val="4DB9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9144000" y="6953250"/>
            <a:ext cx="333375" cy="381000"/>
          </a:xfrm>
          <a:prstGeom prst="line">
            <a:avLst/>
          </a:prstGeom>
          <a:ln cap="rnd" w="95250">
            <a:solidFill>
              <a:srgbClr val="4DB9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476500" y="8048625"/>
            <a:ext cx="133350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025">
                <a:solidFill>
                  <a:srgbClr val="173F4F"/>
                </a:solidFill>
                <a:latin typeface="Nunito"/>
                <a:ea typeface="Nunito"/>
                <a:cs typeface="Nunito"/>
                <a:sym typeface="Nunito"/>
              </a:rPr>
              <a:t>Get your magic finger ready! Trace down, down, down!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9563100"/>
            <a:ext cx="8572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  •  M1 L4  •  DRAWING STRAIGHT DOWN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78250" y="9563100"/>
            <a:ext cx="857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5  / 13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58775"/>
              <a:ext cx="10414000" cy="1061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0"/>
                </a:lnSpc>
              </a:pPr>
              <a:r>
                <a:rPr lang="en-US" sz="5775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Drink the rain, flower!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Rain gives our flower water. Show how the flower stands tall.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6  / 13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095750" y="3476625"/>
            <a:ext cx="0" cy="3095625"/>
          </a:xfrm>
          <a:prstGeom prst="line">
            <a:avLst/>
          </a:prstGeom>
          <a:ln cap="rnd" w="85725">
            <a:solidFill>
              <a:srgbClr val="4DB9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144000" y="3476625"/>
            <a:ext cx="0" cy="3095625"/>
          </a:xfrm>
          <a:prstGeom prst="line">
            <a:avLst/>
          </a:prstGeom>
          <a:ln cap="rnd" w="85725">
            <a:solidFill>
              <a:srgbClr val="4DB9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4192250" y="3476625"/>
            <a:ext cx="0" cy="3095625"/>
          </a:xfrm>
          <a:prstGeom prst="line">
            <a:avLst/>
          </a:prstGeom>
          <a:ln cap="rnd" w="85725">
            <a:solidFill>
              <a:srgbClr val="4DB9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52500" y="666750"/>
            <a:ext cx="10477500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>
                <a:solidFill>
                  <a:srgbClr val="174B5F"/>
                </a:solidFill>
                <a:latin typeface="Fredoka"/>
                <a:ea typeface="Fredoka"/>
                <a:cs typeface="Fredoka"/>
                <a:sym typeface="Fredoka"/>
              </a:rPr>
              <a:t>Draw straight down.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95625" y="1943100"/>
            <a:ext cx="200025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74"/>
              </a:lnSpc>
            </a:pPr>
            <a:r>
              <a:rPr lang="en-US" sz="8625">
                <a:solidFill>
                  <a:srgbClr val="4DB9E8"/>
                </a:solidFill>
                <a:latin typeface="Fredoka"/>
                <a:ea typeface="Fredoka"/>
                <a:cs typeface="Fredoka"/>
                <a:sym typeface="Fredoka"/>
              </a:rPr>
              <a:t>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3875" y="1943100"/>
            <a:ext cx="200025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74"/>
              </a:lnSpc>
            </a:pPr>
            <a:r>
              <a:rPr lang="en-US" sz="8625">
                <a:solidFill>
                  <a:srgbClr val="4DB9E8"/>
                </a:solidFill>
                <a:latin typeface="Fredoka"/>
                <a:ea typeface="Fredoka"/>
                <a:cs typeface="Fredoka"/>
                <a:sym typeface="Fredoka"/>
              </a:rPr>
              <a:t>☁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92125" y="1943100"/>
            <a:ext cx="200025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74"/>
              </a:lnSpc>
            </a:pPr>
            <a:r>
              <a:rPr lang="en-US" sz="8625">
                <a:solidFill>
                  <a:srgbClr val="4DB9E8"/>
                </a:solidFill>
                <a:latin typeface="Fredoka"/>
                <a:ea typeface="Fredoka"/>
                <a:cs typeface="Fredoka"/>
                <a:sym typeface="Fredoka"/>
              </a:rPr>
              <a:t>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38500" y="6429375"/>
            <a:ext cx="17145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EF5B55"/>
                </a:solidFill>
                <a:latin typeface="Fredoka"/>
                <a:ea typeface="Fredoka"/>
                <a:cs typeface="Fredoka"/>
                <a:sym typeface="Fredoka"/>
              </a:rPr>
              <a:t>✿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86750" y="6429375"/>
            <a:ext cx="17145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EF5B55"/>
                </a:solidFill>
                <a:latin typeface="Fredoka"/>
                <a:ea typeface="Fredoka"/>
                <a:cs typeface="Fredoka"/>
                <a:sym typeface="Fredoka"/>
              </a:rPr>
              <a:t>✿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0" y="6429375"/>
            <a:ext cx="17145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EF5B55"/>
                </a:solidFill>
                <a:latin typeface="Fredoka"/>
                <a:ea typeface="Fredoka"/>
                <a:cs typeface="Fredoka"/>
                <a:sym typeface="Fredoka"/>
              </a:rPr>
              <a:t>✿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81250" y="8086725"/>
            <a:ext cx="135255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025">
                <a:solidFill>
                  <a:srgbClr val="173F4F"/>
                </a:solidFill>
                <a:latin typeface="Nunito"/>
                <a:ea typeface="Nunito"/>
                <a:cs typeface="Nunito"/>
                <a:sym typeface="Nunito"/>
              </a:rPr>
              <a:t>Can you help the rain reach the flowers? Touch and draw down!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9563100"/>
            <a:ext cx="8572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  •  M1 L4  •  DRAWING STRAIGHT DOWN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78250" y="9563100"/>
            <a:ext cx="857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07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7  / 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68300"/>
              <a:ext cx="10414000" cy="1187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9"/>
                </a:lnSpc>
              </a:pPr>
              <a:r>
                <a:rPr lang="en-US" sz="6450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God sends the rain.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Ask: “Who gives the flowers water?” Say: “Thank you, God!”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8  / 13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68300"/>
              <a:ext cx="10414000" cy="1187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9"/>
                </a:lnSpc>
              </a:pPr>
              <a:r>
                <a:rPr lang="en-US" sz="6450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Fast or Slow?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Trace fast for fast rain. Trace slowly for slow rain. Try both!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9  / 13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68300"/>
              <a:ext cx="10414000" cy="1187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9"/>
                </a:lnSpc>
              </a:pPr>
              <a:r>
                <a:rPr lang="en-US" sz="6450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Apple falls down.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Trace the apple: “Down, down, down!”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10  / 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68300"/>
              <a:ext cx="10414000" cy="1187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9"/>
                </a:lnSpc>
              </a:pPr>
              <a:r>
                <a:rPr lang="en-US" sz="6450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Your turn!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Take paper and a crayon. Draw straight lines from top to bottom.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11  / 13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1809750"/>
            <a:ext cx="7810500" cy="5524500"/>
          </a:xfrm>
          <a:custGeom>
            <a:avLst/>
            <a:gdLst/>
            <a:ahLst/>
            <a:cxnLst/>
            <a:rect r="r" b="b" t="t" l="l"/>
            <a:pathLst>
              <a:path h="5524500" w="7810500">
                <a:moveTo>
                  <a:pt x="0" y="0"/>
                </a:moveTo>
                <a:lnTo>
                  <a:pt x="7810500" y="0"/>
                </a:lnTo>
                <a:lnTo>
                  <a:pt x="7810500" y="5524500"/>
                </a:lnTo>
                <a:lnTo>
                  <a:pt x="0" y="552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72" t="0" r="-1287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525000" y="1809750"/>
            <a:ext cx="7810500" cy="5524500"/>
          </a:xfrm>
          <a:custGeom>
            <a:avLst/>
            <a:gdLst/>
            <a:ahLst/>
            <a:cxnLst/>
            <a:rect r="r" b="b" t="t" l="l"/>
            <a:pathLst>
              <a:path h="5524500" w="7810500">
                <a:moveTo>
                  <a:pt x="0" y="0"/>
                </a:moveTo>
                <a:lnTo>
                  <a:pt x="7810500" y="0"/>
                </a:lnTo>
                <a:lnTo>
                  <a:pt x="7810500" y="5524500"/>
                </a:lnTo>
                <a:lnTo>
                  <a:pt x="0" y="552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72" t="0" r="-12872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952500" y="704850"/>
            <a:ext cx="12858750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>
                <a:solidFill>
                  <a:srgbClr val="174B5F"/>
                </a:solidFill>
                <a:latin typeface="Fredoka"/>
                <a:ea typeface="Fredoka"/>
                <a:cs typeface="Fredoka"/>
                <a:sym typeface="Fredoka"/>
              </a:rPr>
              <a:t>Rain. Down, down, down.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4000" y="6591300"/>
            <a:ext cx="66675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0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RAIN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6500" y="6591300"/>
            <a:ext cx="66675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0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FLOWER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6000" y="8086725"/>
            <a:ext cx="137160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2025">
                <a:solidFill>
                  <a:srgbClr val="173F4F"/>
                </a:solidFill>
                <a:latin typeface="Nunito"/>
                <a:ea typeface="Nunito"/>
                <a:cs typeface="Nunito"/>
                <a:sym typeface="Nunito"/>
              </a:rPr>
              <a:t>Say “Rain.” Move your finger straight down. What drinks the rain?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78250" y="9563100"/>
            <a:ext cx="857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12  / 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3900" y="647700"/>
            <a:ext cx="8572500" cy="1257300"/>
            <a:chOff x="0" y="0"/>
            <a:chExt cx="11430000" cy="16764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430000" cy="1676400"/>
              <a:chOff x="0" y="0"/>
              <a:chExt cx="11430000" cy="167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430000" cy="1676400"/>
              </a:xfrm>
              <a:custGeom>
                <a:avLst/>
                <a:gdLst/>
                <a:ahLst/>
                <a:cxnLst/>
                <a:rect r="r" b="b" t="t" l="l"/>
                <a:pathLst>
                  <a:path h="1676400" w="11430000">
                    <a:moveTo>
                      <a:pt x="39511" y="0"/>
                    </a:moveTo>
                    <a:lnTo>
                      <a:pt x="11390489" y="0"/>
                    </a:lnTo>
                    <a:cubicBezTo>
                      <a:pt x="11400968" y="0"/>
                      <a:pt x="11411017" y="4163"/>
                      <a:pt x="11418428" y="11573"/>
                    </a:cubicBezTo>
                    <a:cubicBezTo>
                      <a:pt x="11425837" y="18982"/>
                      <a:pt x="11430000" y="29032"/>
                      <a:pt x="11430000" y="39511"/>
                    </a:cubicBezTo>
                    <a:lnTo>
                      <a:pt x="11430000" y="1636889"/>
                    </a:lnTo>
                    <a:cubicBezTo>
                      <a:pt x="11430000" y="1647368"/>
                      <a:pt x="11425837" y="1657418"/>
                      <a:pt x="11418428" y="1664827"/>
                    </a:cubicBezTo>
                    <a:cubicBezTo>
                      <a:pt x="11411017" y="1672237"/>
                      <a:pt x="11400968" y="1676400"/>
                      <a:pt x="11390489" y="1676400"/>
                    </a:cubicBezTo>
                    <a:lnTo>
                      <a:pt x="39511" y="1676400"/>
                    </a:lnTo>
                    <a:cubicBezTo>
                      <a:pt x="29032" y="1676400"/>
                      <a:pt x="18982" y="1672237"/>
                      <a:pt x="11573" y="1664827"/>
                    </a:cubicBezTo>
                    <a:cubicBezTo>
                      <a:pt x="4163" y="1657418"/>
                      <a:pt x="0" y="1647368"/>
                      <a:pt x="0" y="1636889"/>
                    </a:cubicBezTo>
                    <a:lnTo>
                      <a:pt x="0" y="39511"/>
                    </a:lnTo>
                    <a:cubicBezTo>
                      <a:pt x="0" y="29032"/>
                      <a:pt x="4163" y="18982"/>
                      <a:pt x="11573" y="11573"/>
                    </a:cubicBezTo>
                    <a:cubicBezTo>
                      <a:pt x="18982" y="4163"/>
                      <a:pt x="29032" y="0"/>
                      <a:pt x="395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68300"/>
              <a:ext cx="10414000" cy="1187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79"/>
                </a:lnSpc>
              </a:pPr>
              <a:r>
                <a:rPr lang="en-US" sz="6450">
                  <a:solidFill>
                    <a:srgbClr val="174B5F"/>
                  </a:solidFill>
                  <a:latin typeface="Fredoka"/>
                  <a:ea typeface="Fredoka"/>
                  <a:cs typeface="Fredoka"/>
                  <a:sym typeface="Fredoka"/>
                </a:rPr>
                <a:t>Goodbye!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8143875"/>
            <a:ext cx="12382500" cy="895350"/>
            <a:chOff x="0" y="0"/>
            <a:chExt cx="16510000" cy="1193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510000" cy="1193800"/>
              <a:chOff x="0" y="0"/>
              <a:chExt cx="16510000" cy="1193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510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6510000">
                    <a:moveTo>
                      <a:pt x="21492" y="0"/>
                    </a:moveTo>
                    <a:lnTo>
                      <a:pt x="16488508" y="0"/>
                    </a:lnTo>
                    <a:cubicBezTo>
                      <a:pt x="16494207" y="0"/>
                      <a:pt x="16499675" y="2264"/>
                      <a:pt x="16503706" y="6295"/>
                    </a:cubicBezTo>
                    <a:cubicBezTo>
                      <a:pt x="16507735" y="10326"/>
                      <a:pt x="16510000" y="15792"/>
                      <a:pt x="16510000" y="21492"/>
                    </a:cubicBezTo>
                    <a:lnTo>
                      <a:pt x="16510000" y="1172308"/>
                    </a:lnTo>
                    <a:cubicBezTo>
                      <a:pt x="16510000" y="1178008"/>
                      <a:pt x="16507735" y="1183474"/>
                      <a:pt x="16503706" y="1187505"/>
                    </a:cubicBezTo>
                    <a:cubicBezTo>
                      <a:pt x="16499675" y="1191536"/>
                      <a:pt x="16494207" y="1193800"/>
                      <a:pt x="16488508" y="1193800"/>
                    </a:cubicBezTo>
                    <a:lnTo>
                      <a:pt x="21492" y="1193800"/>
                    </a:lnTo>
                    <a:cubicBezTo>
                      <a:pt x="15792" y="1193800"/>
                      <a:pt x="10326" y="1191536"/>
                      <a:pt x="6295" y="1187505"/>
                    </a:cubicBezTo>
                    <a:cubicBezTo>
                      <a:pt x="2264" y="1183474"/>
                      <a:pt x="0" y="1178008"/>
                      <a:pt x="0" y="1172308"/>
                    </a:cubicBezTo>
                    <a:lnTo>
                      <a:pt x="0" y="21492"/>
                    </a:lnTo>
                    <a:cubicBezTo>
                      <a:pt x="0" y="15792"/>
                      <a:pt x="2264" y="10326"/>
                      <a:pt x="6295" y="6295"/>
                    </a:cubicBezTo>
                    <a:cubicBezTo>
                      <a:pt x="10326" y="2264"/>
                      <a:pt x="15792" y="0"/>
                      <a:pt x="21492" y="0"/>
                    </a:cubicBezTo>
                    <a:close/>
                  </a:path>
                </a:pathLst>
              </a:custGeom>
              <a:solidFill>
                <a:srgbClr val="FFF9E8"/>
              </a:solidFill>
              <a:ln cap="rnd">
                <a:noFill/>
                <a:prstDash val="solid"/>
                <a:round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386398"/>
              <a:ext cx="14986000" cy="41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>
                  <a:solidFill>
                    <a:srgbClr val="173F4F"/>
                  </a:solidFill>
                  <a:latin typeface="Nunito"/>
                  <a:ea typeface="Nunito"/>
                  <a:cs typeface="Nunito"/>
                  <a:sym typeface="Nunito"/>
                </a:rPr>
                <a:t>You earned an Eco-Drop! Celebrate, thank the children, and wave goodbye.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13 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DAHT1rzbx8o</dc:identifier>
  <dcterms:modified xsi:type="dcterms:W3CDTF">2011-08-01T06:04:30Z</dcterms:modified>
  <cp:revision>1</cp:revision>
  <dc:title>RemoEd L1M1 Lesson 4</dc:title>
</cp:coreProperties>
</file>