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63" r:id="rId4"/>
    <p:sldId id="259" r:id="rId5"/>
    <p:sldId id="26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3049" autoAdjust="0"/>
  </p:normalViewPr>
  <p:slideViewPr>
    <p:cSldViewPr snapToGrid="0">
      <p:cViewPr varScale="1">
        <p:scale>
          <a:sx n="106" d="100"/>
          <a:sy n="106" d="100"/>
        </p:scale>
        <p:origin x="7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2B5E-7FEF-4086-9128-95FE77BF56FA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E578-92A7-47E4-A87B-8DA65051C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2B5E-7FEF-4086-9128-95FE77BF56FA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E578-92A7-47E4-A87B-8DA65051C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2B5E-7FEF-4086-9128-95FE77BF56FA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E578-92A7-47E4-A87B-8DA65051C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2B5E-7FEF-4086-9128-95FE77BF56FA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E578-92A7-47E4-A87B-8DA65051C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2B5E-7FEF-4086-9128-95FE77BF56FA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E578-92A7-47E4-A87B-8DA65051C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2B5E-7FEF-4086-9128-95FE77BF56FA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E578-92A7-47E4-A87B-8DA65051C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2B5E-7FEF-4086-9128-95FE77BF56FA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E578-92A7-47E4-A87B-8DA65051C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2B5E-7FEF-4086-9128-95FE77BF56FA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E578-92A7-47E4-A87B-8DA65051C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2B5E-7FEF-4086-9128-95FE77BF56FA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E578-92A7-47E4-A87B-8DA65051C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2B5E-7FEF-4086-9128-95FE77BF56FA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E578-92A7-47E4-A87B-8DA65051C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2B5E-7FEF-4086-9128-95FE77BF56FA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E578-92A7-47E4-A87B-8DA65051C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092B5E-7FEF-4086-9128-95FE77BF56FA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8EE578-92A7-47E4-A87B-8DA65051C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20963" y="0"/>
            <a:ext cx="12150074" cy="6858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562470" y="467381"/>
            <a:ext cx="4776186" cy="402630"/>
          </a:xfrm>
          <a:prstGeom prst="rect">
            <a:avLst/>
          </a:prstGeom>
          <a:solidFill>
            <a:srgbClr val="004AAD"/>
          </a:solidFill>
          <a:ln w="12700" cap="flat" cmpd="sng">
            <a:solidFill>
              <a:schemeClr val="accent1">
                <a:shade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370338" y="437863"/>
            <a:ext cx="31604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chemeClr val="bg1"/>
                </a:solidFill>
              </a:rPr>
              <a:t>Welcome to Acadsoc</a:t>
            </a:r>
            <a:endParaRPr lang="zh-CN" sz="2400" b="1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65730" y="2990850"/>
            <a:ext cx="7721600" cy="126047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Congratulations! </a:t>
            </a:r>
          </a:p>
          <a:p>
            <a:pPr algn="ctr"/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You finished your first class in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Acadsoc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. 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CN" sz="20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恭喜你完成了在阿卡索的第一节课。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BF6415E-7DB2-82F5-DCF8-029AA419DEDF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718705" y="4028974"/>
            <a:ext cx="5742305" cy="2499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5073" y="16329"/>
            <a:ext cx="12150074" cy="6858000"/>
          </a:xfrm>
          <a:prstGeom prst="rect">
            <a:avLst/>
          </a:prstGeom>
        </p:spPr>
      </p:pic>
      <p:sp>
        <p:nvSpPr>
          <p:cNvPr id="2" name="圆角矩形 1"/>
          <p:cNvSpPr/>
          <p:nvPr/>
        </p:nvSpPr>
        <p:spPr>
          <a:xfrm>
            <a:off x="1687195" y="1769745"/>
            <a:ext cx="9644834" cy="4166598"/>
          </a:xfrm>
          <a:prstGeom prst="roundRect">
            <a:avLst/>
          </a:prstGeom>
          <a:noFill/>
          <a:ln w="12700">
            <a:solidFill>
              <a:schemeClr val="accent1">
                <a:shade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554605" y="1641475"/>
            <a:ext cx="2208530" cy="377825"/>
          </a:xfrm>
          <a:prstGeom prst="roundRect">
            <a:avLst/>
          </a:prstGeom>
          <a:solidFill>
            <a:srgbClr val="004AAD"/>
          </a:solidFill>
          <a:ln w="12700" cap="flat" cmpd="sng">
            <a:solidFill>
              <a:schemeClr val="accent1">
                <a:shade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834696" y="1894840"/>
            <a:ext cx="9334046" cy="3881846"/>
          </a:xfrm>
          <a:prstGeom prst="roundRect">
            <a:avLst/>
          </a:prstGeom>
          <a:noFill/>
          <a:ln w="12700">
            <a:solidFill>
              <a:schemeClr val="accent1">
                <a:shade val="50000"/>
              </a:schemeClr>
            </a:solidFill>
            <a:prstDash val="sysDash"/>
            <a:miter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711450" y="1651000"/>
            <a:ext cx="195770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Strengths </a:t>
            </a:r>
            <a:r>
              <a:rPr lang="zh-CN" b="1">
                <a:solidFill>
                  <a:schemeClr val="bg1"/>
                </a:solidFill>
              </a:rPr>
              <a:t>优点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EF31408-C2D8-0A90-8F02-030E404EECEC}"/>
              </a:ext>
            </a:extLst>
          </p:cNvPr>
          <p:cNvSpPr txBox="1"/>
          <p:nvPr/>
        </p:nvSpPr>
        <p:spPr>
          <a:xfrm>
            <a:off x="3132500" y="2605331"/>
            <a:ext cx="613824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You can communicate with me in simple sentences.</a:t>
            </a:r>
            <a:r>
              <a:rPr lang="en-US" altLang="en-MY" sz="1800" b="1" dirty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 </a:t>
            </a:r>
            <a:r>
              <a:rPr lang="zh-CN" altLang="en-US" sz="1800" b="1" dirty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你可以和我进行简单的交流。</a:t>
            </a:r>
            <a:endParaRPr lang="zh-CN" altLang="en-US" sz="1800" b="1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r>
              <a:rPr lang="en-US" altLang="zh-CN" sz="1800" b="1" dirty="0">
                <a:latin typeface="微软雅黑 Light" panose="020B0502040204020203" charset="-122"/>
                <a:ea typeface="微软雅黑 Light" panose="020B0502040204020203" charset="-122"/>
              </a:rPr>
              <a:t>You can easily make sentences with new words. </a:t>
            </a:r>
            <a:r>
              <a:rPr lang="zh-CN" altLang="en-US" sz="1800" b="1" dirty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你可以轻易地用新单词造句。</a:t>
            </a:r>
          </a:p>
          <a:p>
            <a:endParaRPr lang="zh-CN" altLang="en-US" sz="18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endParaRPr lang="zh-CN" altLang="en-US" sz="18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r>
              <a:rPr lang="en-US" altLang="zh-CN" sz="1800" dirty="0">
                <a:latin typeface="微软雅黑 Light" panose="020B0502040204020203" charset="-122"/>
                <a:ea typeface="微软雅黑 Light" panose="020B0502040204020203" charset="-122"/>
              </a:rPr>
              <a:t>For example, you made a sentence with the word SLEEP, I have to sleep before 12 o’clock.</a:t>
            </a:r>
          </a:p>
          <a:p>
            <a:r>
              <a:rPr lang="zh-CN" altLang="en-US" sz="1800" dirty="0">
                <a:latin typeface="微软雅黑 Light" panose="020B0502040204020203" charset="-122"/>
                <a:ea typeface="微软雅黑 Light" panose="020B0502040204020203" charset="-122"/>
              </a:rPr>
              <a:t>例如用</a:t>
            </a:r>
            <a:r>
              <a:rPr lang="en-US" altLang="zh-CN" sz="1800" dirty="0">
                <a:latin typeface="微软雅黑 Light" panose="020B0502040204020203" charset="-122"/>
                <a:ea typeface="微软雅黑 Light" panose="020B0502040204020203" charset="-122"/>
              </a:rPr>
              <a:t>sleep</a:t>
            </a:r>
            <a:r>
              <a:rPr lang="zh-CN" altLang="en-US" sz="1800" dirty="0">
                <a:latin typeface="微软雅黑 Light" panose="020B0502040204020203" charset="-122"/>
                <a:ea typeface="微软雅黑 Light" panose="020B0502040204020203" charset="-122"/>
              </a:rPr>
              <a:t>这个单词说</a:t>
            </a:r>
            <a:r>
              <a:rPr lang="en-US" altLang="zh-CN" sz="1800" dirty="0">
                <a:latin typeface="微软雅黑 Light" panose="020B0502040204020203" charset="-122"/>
                <a:ea typeface="微软雅黑 Light" panose="020B0502040204020203" charset="-122"/>
              </a:rPr>
              <a:t>I have to sleep before 12 o’clock</a:t>
            </a:r>
            <a:r>
              <a:rPr lang="zh-CN" altLang="en-US" sz="1800" dirty="0">
                <a:latin typeface="微软雅黑 Light" panose="020B0502040204020203" charset="-122"/>
                <a:ea typeface="微软雅黑 Light" panose="020B0502040204020203" charset="-122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4">
            <a:extLst>
              <a:ext uri="{FF2B5EF4-FFF2-40B4-BE49-F238E27FC236}">
                <a16:creationId xmlns:a16="http://schemas.microsoft.com/office/drawing/2014/main" id="{A7F9E6C5-0E4D-1FAF-483D-D8639E6237E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073" y="16329"/>
            <a:ext cx="12150074" cy="6858000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1815729" y="1730877"/>
            <a:ext cx="9350503" cy="3804507"/>
          </a:xfrm>
          <a:prstGeom prst="roundRect">
            <a:avLst/>
          </a:prstGeom>
          <a:noFill/>
          <a:ln w="12700">
            <a:solidFill>
              <a:srgbClr val="CB0202"/>
            </a:solidFill>
            <a:prstDash val="sysDash"/>
            <a:miter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1696273" y="1617732"/>
            <a:ext cx="9610635" cy="4048281"/>
          </a:xfrm>
          <a:prstGeom prst="roundRect">
            <a:avLst/>
          </a:prstGeom>
          <a:noFill/>
          <a:ln w="12700">
            <a:solidFill>
              <a:srgbClr val="CB0202"/>
            </a:solidFill>
            <a:prstDash val="solid"/>
            <a:miter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591383" y="1511960"/>
            <a:ext cx="3832225" cy="367030"/>
          </a:xfrm>
          <a:prstGeom prst="roundRect">
            <a:avLst/>
          </a:prstGeom>
          <a:solidFill>
            <a:srgbClr val="CB0202"/>
          </a:solidFill>
          <a:ln w="12700">
            <a:solidFill>
              <a:srgbClr val="CB0202"/>
            </a:solidFill>
            <a:prstDash val="solid"/>
            <a:miter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587573" y="1511960"/>
            <a:ext cx="38322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Areas for Improvement  </a:t>
            </a:r>
            <a:r>
              <a:rPr lang="zh-CN" sz="1500" b="1" dirty="0">
                <a:solidFill>
                  <a:schemeClr val="bg1"/>
                </a:solidFill>
              </a:rPr>
              <a:t>需要</a:t>
            </a:r>
            <a:r>
              <a:rPr lang="zh-CN" sz="1600" b="1" dirty="0">
                <a:solidFill>
                  <a:schemeClr val="bg1"/>
                </a:solidFill>
              </a:rPr>
              <a:t>提高的地方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811074E-5F20-4B30-BBA3-7193D1BEE77C}"/>
              </a:ext>
            </a:extLst>
          </p:cNvPr>
          <p:cNvSpPr txBox="1"/>
          <p:nvPr/>
        </p:nvSpPr>
        <p:spPr>
          <a:xfrm>
            <a:off x="1975819" y="1992135"/>
            <a:ext cx="9030321" cy="3131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PH" altLang="zh-CN" b="1" dirty="0">
                <a:solidFill>
                  <a:srgbClr val="C00000"/>
                </a:solidFill>
                <a:latin typeface="Comic Sans MS" panose="030F0702030302020204" pitchFamily="66" charset="0"/>
              </a:rPr>
              <a:t>However, you still have challenges in </a:t>
            </a:r>
            <a:r>
              <a:rPr lang="en-US" altLang="zh-CN" b="1" dirty="0">
                <a:solidFill>
                  <a:srgbClr val="C00000"/>
                </a:solidFill>
                <a:latin typeface="Comic Sans MS" panose="030F0702030302020204" pitchFamily="66" charset="0"/>
              </a:rPr>
              <a:t>the following words/sentences</a:t>
            </a:r>
            <a:r>
              <a:rPr lang="en-US" altLang="zh-CN" b="1" dirty="0">
                <a:solidFill>
                  <a:schemeClr val="accent2"/>
                </a:solidFill>
                <a:latin typeface="Comic Sans MS" panose="030F0702030302020204" pitchFamily="66" charset="0"/>
              </a:rPr>
              <a:t>.</a:t>
            </a:r>
          </a:p>
          <a:p>
            <a:pPr>
              <a:lnSpc>
                <a:spcPts val="3000"/>
              </a:lnSpc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不过，我发现下面这些单词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句子对你来说还是有一点挑战性哦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</a:t>
            </a:r>
          </a:p>
          <a:p>
            <a:pPr>
              <a:lnSpc>
                <a:spcPts val="3000"/>
              </a:lnSpc>
            </a:pPr>
            <a:endParaRPr lang="en-PH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r>
              <a:rPr lang="en-PH" altLang="zh-CN" b="1" dirty="0">
                <a:solidFill>
                  <a:srgbClr val="C00000"/>
                </a:solidFill>
                <a:latin typeface="Comic Sans MS" panose="030F0702030302020204" pitchFamily="66" charset="0"/>
              </a:rPr>
              <a:t>So, please </a:t>
            </a:r>
            <a:r>
              <a:rPr lang="en-US" altLang="zh-CN" b="1" dirty="0">
                <a:solidFill>
                  <a:srgbClr val="C00000"/>
                </a:solidFill>
                <a:latin typeface="Comic Sans MS" panose="030F0702030302020204" pitchFamily="66" charset="0"/>
              </a:rPr>
              <a:t>repeat after me</a:t>
            </a:r>
            <a:r>
              <a:rPr lang="en-PH" altLang="zh-CN" b="1" dirty="0">
                <a:solidFill>
                  <a:srgbClr val="C00000"/>
                </a:solidFill>
                <a:latin typeface="Comic Sans MS" panose="030F0702030302020204" pitchFamily="66" charset="0"/>
              </a:rPr>
              <a:t>:</a:t>
            </a:r>
          </a:p>
          <a:p>
            <a:pPr>
              <a:lnSpc>
                <a:spcPts val="3000"/>
              </a:lnSpc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所以，请跟我再读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复习一下吧：</a:t>
            </a:r>
            <a:endParaRPr lang="en-PH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r>
              <a:rPr lang="en-PH" altLang="zh-CN" b="1" dirty="0">
                <a:solidFill>
                  <a:srgbClr val="002060"/>
                </a:solidFill>
                <a:latin typeface="Comic Sans MS" panose="030F0702030302020204" pitchFamily="66" charset="0"/>
              </a:rPr>
              <a:t>#1.__________________________  #2.______________________________</a:t>
            </a:r>
          </a:p>
          <a:p>
            <a:pPr>
              <a:lnSpc>
                <a:spcPts val="3000"/>
              </a:lnSpc>
            </a:pPr>
            <a:r>
              <a:rPr lang="en-PH" altLang="zh-CN" b="1" dirty="0">
                <a:solidFill>
                  <a:srgbClr val="002060"/>
                </a:solidFill>
                <a:latin typeface="Comic Sans MS" panose="030F0702030302020204" pitchFamily="66" charset="0"/>
              </a:rPr>
              <a:t>#3.__________________________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27DE233-0EF0-8ABC-9D50-36D2B8A545E4}"/>
              </a:ext>
            </a:extLst>
          </p:cNvPr>
          <p:cNvSpPr txBox="1"/>
          <p:nvPr/>
        </p:nvSpPr>
        <p:spPr>
          <a:xfrm>
            <a:off x="2137076" y="5927271"/>
            <a:ext cx="6188764" cy="457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Comic Sans MS" panose="030F0702030302020204" pitchFamily="66" charset="0"/>
                <a:ea typeface="Arial" panose="020B0604020202020204"/>
                <a:cs typeface="Arial" panose="020B0604020202020204"/>
                <a:sym typeface="Arial" panose="020B0604020202020204"/>
              </a:rPr>
              <a:t>Good Job! Great! </a:t>
            </a:r>
            <a:r>
              <a:rPr lang="zh-CN" altLang="en-US" sz="2400" b="1" dirty="0">
                <a:solidFill>
                  <a:srgbClr val="002060"/>
                </a:solidFill>
                <a:latin typeface="Comic Sans MS" panose="030F0702030302020204" pitchFamily="66" charset="0"/>
                <a:ea typeface="Arial" panose="020B0604020202020204"/>
                <a:cs typeface="Arial" panose="020B0604020202020204"/>
                <a:sym typeface="Arial" panose="020B0604020202020204"/>
              </a:rPr>
              <a:t>你做得很好！  </a:t>
            </a:r>
            <a:endParaRPr lang="en-US" altLang="zh-CN" sz="2400" b="1" dirty="0">
              <a:solidFill>
                <a:srgbClr val="002060"/>
              </a:solidFill>
              <a:latin typeface="Comic Sans MS" panose="030F0702030302020204" pitchFamily="66" charset="0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550170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46990" y="0"/>
            <a:ext cx="12192000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435225" y="1609725"/>
            <a:ext cx="6428105" cy="4555490"/>
          </a:xfrm>
          <a:prstGeom prst="rect">
            <a:avLst/>
          </a:prstGeom>
        </p:spPr>
        <p:txBody>
          <a:bodyPr wrap="square" anchor="ctr" anchorCtr="0"/>
          <a:lstStyle/>
          <a:p>
            <a:pPr marL="127000" indent="0">
              <a:buNone/>
            </a:pPr>
            <a:endParaRPr lang="en-US" sz="1400" dirty="0">
              <a:solidFill>
                <a:srgbClr val="53535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27000" indent="0">
              <a:buNone/>
            </a:pPr>
            <a:endParaRPr lang="en-US" sz="1400" dirty="0">
              <a:solidFill>
                <a:srgbClr val="53535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27000" algn="l">
              <a:buClrTx/>
              <a:buSzTx/>
              <a:buNone/>
            </a:pPr>
            <a:endParaRPr lang="en-US" sz="1400" dirty="0">
              <a:solidFill>
                <a:srgbClr val="535353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marL="127000" algn="l">
              <a:buClrTx/>
              <a:buSzTx/>
              <a:buNone/>
            </a:pPr>
            <a:endParaRPr lang="en-US" sz="1400" dirty="0">
              <a:solidFill>
                <a:srgbClr val="535353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marL="127000" algn="l">
              <a:buClrTx/>
              <a:buSzTx/>
              <a:buNone/>
            </a:pPr>
            <a:r>
              <a:rPr lang="en-US" sz="1400" dirty="0">
                <a:solidFill>
                  <a:srgbClr val="535353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1. Learn with our tutors to practice your oral English every day.</a:t>
            </a:r>
          </a:p>
          <a:p>
            <a:pPr marL="127000" algn="l">
              <a:buClrTx/>
              <a:buSzTx/>
              <a:buNone/>
            </a:pPr>
            <a:r>
              <a:rPr lang="en-US" sz="1400" dirty="0" err="1">
                <a:solidFill>
                  <a:srgbClr val="535353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与我们的外教老师一起每天练习口语</a:t>
            </a:r>
            <a:r>
              <a:rPr lang="zh-CN" altLang="en-US" sz="1400" dirty="0">
                <a:solidFill>
                  <a:srgbClr val="535353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。</a:t>
            </a:r>
            <a:endParaRPr lang="en-US" sz="1400" dirty="0">
              <a:solidFill>
                <a:srgbClr val="535353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marL="127000" indent="0">
              <a:buNone/>
            </a:pPr>
            <a:endParaRPr lang="en-US" sz="1400" dirty="0">
              <a:solidFill>
                <a:srgbClr val="53535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27000" indent="0">
              <a:buNone/>
            </a:pPr>
            <a:endParaRPr lang="en-US" sz="1400" dirty="0">
              <a:solidFill>
                <a:srgbClr val="53535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27000" indent="0">
              <a:buNone/>
            </a:pPr>
            <a:r>
              <a:rPr lang="en-US" sz="1400" dirty="0">
                <a:solidFill>
                  <a:srgbClr val="535353"/>
                </a:solidFill>
                <a:latin typeface="微软雅黑" panose="020B0503020204020204" charset="-122"/>
                <a:ea typeface="微软雅黑" panose="020B0503020204020204" charset="-122"/>
              </a:rPr>
              <a:t>2. Read new words loudly according to the electronic dictionary app.</a:t>
            </a:r>
          </a:p>
          <a:p>
            <a:pPr marL="127000" indent="0">
              <a:buNone/>
            </a:pPr>
            <a:r>
              <a:rPr lang="zh-CN" sz="1400" dirty="0">
                <a:solidFill>
                  <a:srgbClr val="535353"/>
                </a:solidFill>
                <a:latin typeface="微软雅黑" panose="020B0503020204020204" charset="-122"/>
                <a:ea typeface="微软雅黑" panose="020B0503020204020204" charset="-122"/>
              </a:rPr>
              <a:t>根据单词软件的发音，大声朗读自己新学的单词</a:t>
            </a:r>
            <a:r>
              <a:rPr lang="zh-CN" sz="1400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sz="1400" dirty="0">
              <a:solidFill>
                <a:srgbClr val="53535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27000" indent="0">
              <a:buNone/>
            </a:pPr>
            <a:endParaRPr lang="en-US" sz="1400" dirty="0">
              <a:solidFill>
                <a:srgbClr val="53535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27000" indent="0">
              <a:buNone/>
            </a:pPr>
            <a:endParaRPr lang="en-US" sz="1400" dirty="0">
              <a:solidFill>
                <a:srgbClr val="53535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27000" indent="0">
              <a:buNone/>
            </a:pPr>
            <a:r>
              <a:rPr lang="en-US" sz="1400" dirty="0">
                <a:solidFill>
                  <a:srgbClr val="535353"/>
                </a:solidFill>
                <a:latin typeface="微软雅黑" panose="020B0503020204020204" charset="-122"/>
                <a:ea typeface="微软雅黑" panose="020B0503020204020204" charset="-122"/>
              </a:rPr>
              <a:t>3. </a:t>
            </a:r>
            <a:r>
              <a:rPr lang="en-US" sz="1400" dirty="0">
                <a:solidFill>
                  <a:srgbClr val="53535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Create an English environment and watch English TV series, like </a:t>
            </a:r>
            <a:r>
              <a:rPr lang="en-US" altLang="zh-CN" sz="1400" dirty="0">
                <a:solidFill>
                  <a:srgbClr val="53535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Friend </a:t>
            </a:r>
            <a:r>
              <a:rPr lang="en-US" sz="1400" dirty="0">
                <a:solidFill>
                  <a:srgbClr val="53535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to learn authentic English expressions.   </a:t>
            </a:r>
          </a:p>
          <a:p>
            <a:pPr marL="127000" indent="0">
              <a:buNone/>
            </a:pPr>
            <a:r>
              <a:rPr lang="zh-CN" sz="1400" dirty="0">
                <a:solidFill>
                  <a:srgbClr val="53535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给自己营造一个英语环境，经常看美剧去学习地道的口语表达，例如</a:t>
            </a:r>
            <a:r>
              <a:rPr lang="en-US" sz="1400" dirty="0">
                <a:solidFill>
                  <a:srgbClr val="53535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《</a:t>
            </a:r>
            <a:r>
              <a:rPr lang="zh-CN" altLang="en-US" sz="1400" dirty="0">
                <a:solidFill>
                  <a:srgbClr val="53535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老友记</a:t>
            </a:r>
            <a:r>
              <a:rPr lang="en-US" sz="1400" dirty="0">
                <a:solidFill>
                  <a:srgbClr val="53535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》</a:t>
            </a:r>
            <a:r>
              <a:rPr 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en-US" sz="1400" dirty="0">
              <a:solidFill>
                <a:srgbClr val="53535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27000" indent="0">
              <a:buNone/>
            </a:pPr>
            <a:endParaRPr lang="en-US" sz="1400" dirty="0">
              <a:solidFill>
                <a:srgbClr val="53535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27000" indent="0">
              <a:buNone/>
            </a:pPr>
            <a:endParaRPr lang="en-US" sz="1400" dirty="0">
              <a:solidFill>
                <a:srgbClr val="53535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27000" indent="0">
              <a:buNone/>
            </a:pPr>
            <a:endParaRPr lang="en-US" sz="1400" dirty="0">
              <a:solidFill>
                <a:srgbClr val="53535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sz="1400" dirty="0">
              <a:solidFill>
                <a:srgbClr val="53535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sz="1400" dirty="0">
              <a:solidFill>
                <a:srgbClr val="53535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55820" y="4221480"/>
            <a:ext cx="4207510" cy="1568450"/>
          </a:xfrm>
          <a:prstGeom prst="rect">
            <a:avLst/>
          </a:prstGeom>
          <a:noFill/>
        </p:spPr>
        <p:txBody>
          <a:bodyPr wrap="square"/>
          <a:lstStyle/>
          <a:p>
            <a:pPr marL="12700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sz="1600" b="0" i="0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497965" y="445770"/>
            <a:ext cx="5034915" cy="481330"/>
          </a:xfrm>
          <a:prstGeom prst="roundRect">
            <a:avLst/>
          </a:prstGeom>
          <a:solidFill>
            <a:srgbClr val="004AAD"/>
          </a:solidFill>
          <a:ln w="12700">
            <a:solidFill>
              <a:srgbClr val="004AAD"/>
            </a:solidFill>
            <a:prstDash val="solid"/>
            <a:miter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448560" y="456565"/>
            <a:ext cx="276733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chemeClr val="bg1"/>
                </a:solidFill>
              </a:rPr>
              <a:t>Suggestions </a:t>
            </a:r>
            <a:r>
              <a:rPr lang="zh-CN" sz="2400" b="1">
                <a:solidFill>
                  <a:schemeClr val="bg1"/>
                </a:solidFill>
              </a:rPr>
              <a:t>建议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1F199AC-99D8-E14E-54B8-BF0465C05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1724" y="3195873"/>
            <a:ext cx="1951010" cy="25057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-635"/>
            <a:ext cx="12192000" cy="68440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89214" y="1360212"/>
            <a:ext cx="19207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Name and TUID</a:t>
            </a:r>
            <a:endParaRPr lang="en-MY" dirty="0"/>
          </a:p>
        </p:txBody>
      </p:sp>
      <p:sp>
        <p:nvSpPr>
          <p:cNvPr id="5" name="TextBox 28"/>
          <p:cNvSpPr txBox="1"/>
          <p:nvPr/>
        </p:nvSpPr>
        <p:spPr>
          <a:xfrm>
            <a:off x="5232400" y="1484630"/>
            <a:ext cx="6359525" cy="454533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>
              <a:lnSpc>
                <a:spcPts val="2375"/>
              </a:lnSpc>
              <a:spcBef>
                <a:spcPct val="0"/>
              </a:spcBef>
            </a:pPr>
            <a:endParaRPr lang="en-US" sz="1600">
              <a:solidFill>
                <a:srgbClr val="53535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ts val="2375"/>
              </a:lnSpc>
              <a:spcBef>
                <a:spcPct val="0"/>
              </a:spcBef>
            </a:pPr>
            <a:r>
              <a:rPr lang="en-US" b="1" u="sng">
                <a:solidFill>
                  <a:srgbClr val="535353"/>
                </a:solidFill>
                <a:latin typeface="微软雅黑" panose="020B0503020204020204" charset="-122"/>
                <a:ea typeface="微软雅黑" panose="020B0503020204020204" charset="-122"/>
              </a:rPr>
              <a:t>My certificate: </a:t>
            </a:r>
          </a:p>
          <a:p>
            <a:pPr algn="l">
              <a:lnSpc>
                <a:spcPts val="2375"/>
              </a:lnSpc>
              <a:buClrTx/>
              <a:buSzTx/>
              <a:buNone/>
            </a:pPr>
            <a:r>
              <a:rPr lang="en-US" sz="1600">
                <a:solidFill>
                  <a:srgbClr val="535353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TESOL</a:t>
            </a:r>
          </a:p>
          <a:p>
            <a:pPr algn="l">
              <a:lnSpc>
                <a:spcPts val="2375"/>
              </a:lnSpc>
              <a:buClrTx/>
              <a:buSzTx/>
              <a:buNone/>
            </a:pPr>
            <a:r>
              <a:rPr lang="en-US" sz="1600">
                <a:solidFill>
                  <a:srgbClr val="535353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全球公认的ESL英语教师专业资格证</a:t>
            </a:r>
          </a:p>
          <a:p>
            <a:pPr algn="l">
              <a:lnSpc>
                <a:spcPts val="2375"/>
              </a:lnSpc>
              <a:buClrTx/>
              <a:buSzTx/>
              <a:buNone/>
            </a:pPr>
            <a:endParaRPr lang="en-US" sz="1600">
              <a:solidFill>
                <a:srgbClr val="535353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algn="l">
              <a:lnSpc>
                <a:spcPts val="2375"/>
              </a:lnSpc>
              <a:buClrTx/>
              <a:buSzTx/>
              <a:buFontTx/>
              <a:buNone/>
            </a:pPr>
            <a:r>
              <a:rPr lang="en-US" b="1" u="sng">
                <a:solidFill>
                  <a:srgbClr val="535353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Strength in this textbook </a:t>
            </a:r>
          </a:p>
          <a:p>
            <a:pPr algn="l">
              <a:lnSpc>
                <a:spcPts val="2375"/>
              </a:lnSpc>
              <a:buClrTx/>
              <a:buSzTx/>
              <a:buNone/>
            </a:pPr>
            <a:r>
              <a:rPr lang="en-US" sz="1600">
                <a:solidFill>
                  <a:srgbClr val="535353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Interactive exercises and extended teaching</a:t>
            </a:r>
          </a:p>
          <a:p>
            <a:pPr algn="l">
              <a:lnSpc>
                <a:spcPts val="2375"/>
              </a:lnSpc>
              <a:buClrTx/>
              <a:buSzTx/>
              <a:buNone/>
            </a:pPr>
            <a:r>
              <a:rPr lang="en-US" sz="1600">
                <a:solidFill>
                  <a:srgbClr val="535353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擅长互动</a:t>
            </a:r>
            <a:r>
              <a:rPr lang="zh-CN" altLang="en-US" sz="1600">
                <a:solidFill>
                  <a:srgbClr val="535353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练习和</a:t>
            </a:r>
            <a:r>
              <a:rPr lang="en-US" sz="1600">
                <a:solidFill>
                  <a:srgbClr val="535353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拓展</a:t>
            </a:r>
            <a:r>
              <a:rPr lang="zh-CN" altLang="en-US" sz="1600">
                <a:solidFill>
                  <a:srgbClr val="535353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教学</a:t>
            </a:r>
            <a:endParaRPr lang="en-US" sz="1600">
              <a:solidFill>
                <a:srgbClr val="535353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algn="l">
              <a:lnSpc>
                <a:spcPts val="2375"/>
              </a:lnSpc>
              <a:buClrTx/>
              <a:buSzTx/>
              <a:buNone/>
            </a:pPr>
            <a:endParaRPr lang="en-US" b="1" u="sng">
              <a:solidFill>
                <a:srgbClr val="53535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ts val="2375"/>
              </a:lnSpc>
              <a:spcBef>
                <a:spcPct val="0"/>
              </a:spcBef>
            </a:pPr>
            <a:r>
              <a:rPr lang="en-US" b="1" u="sng">
                <a:solidFill>
                  <a:srgbClr val="535353"/>
                </a:solidFill>
                <a:latin typeface="微软雅黑" panose="020B0503020204020204" charset="-122"/>
                <a:ea typeface="微软雅黑" panose="020B0503020204020204" charset="-122"/>
              </a:rPr>
              <a:t>Specialize in: </a:t>
            </a:r>
            <a:endParaRPr lang="en-US" sz="1600"/>
          </a:p>
          <a:p>
            <a:pPr>
              <a:lnSpc>
                <a:spcPts val="2375"/>
              </a:lnSpc>
              <a:spcBef>
                <a:spcPct val="0"/>
              </a:spcBef>
            </a:pPr>
            <a:r>
              <a:rPr lang="en-US" sz="1600">
                <a:solidFill>
                  <a:srgbClr val="535353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Oral English, Vocabulary, Knowledge Extension</a:t>
            </a:r>
          </a:p>
          <a:p>
            <a:pPr>
              <a:lnSpc>
                <a:spcPts val="2375"/>
              </a:lnSpc>
              <a:spcBef>
                <a:spcPct val="0"/>
              </a:spcBef>
            </a:pPr>
            <a:r>
              <a:rPr lang="en-US" sz="1600">
                <a:solidFill>
                  <a:srgbClr val="535353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擅长教授词汇,语法,知识拓展</a:t>
            </a:r>
          </a:p>
          <a:p>
            <a:pPr>
              <a:lnSpc>
                <a:spcPts val="2375"/>
              </a:lnSpc>
              <a:spcBef>
                <a:spcPct val="0"/>
              </a:spcBef>
            </a:pPr>
            <a:endParaRPr lang="en-US" sz="1600">
              <a:solidFill>
                <a:srgbClr val="53535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ts val="2375"/>
              </a:lnSpc>
              <a:spcBef>
                <a:spcPct val="0"/>
              </a:spcBef>
            </a:pPr>
            <a:r>
              <a:rPr lang="en-US" sz="1600" spc="5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sz="1600"/>
          </a:p>
          <a:p>
            <a:pPr>
              <a:lnSpc>
                <a:spcPts val="2375"/>
              </a:lnSpc>
              <a:spcBef>
                <a:spcPct val="0"/>
              </a:spcBef>
            </a:pPr>
            <a:endParaRPr lang="en-US" sz="1600">
              <a:solidFill>
                <a:srgbClr val="53535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ts val="2375"/>
              </a:lnSpc>
              <a:spcBef>
                <a:spcPct val="0"/>
              </a:spcBef>
            </a:pPr>
            <a:endParaRPr lang="en-US" sz="1600" spc="50">
              <a:solidFill>
                <a:srgbClr val="53535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1244710" y="3075273"/>
            <a:ext cx="2976186" cy="2159272"/>
          </a:xfrm>
          <a:prstGeom prst="rect">
            <a:avLst/>
          </a:prstGeom>
        </p:spPr>
      </p:pic>
      <p:pic>
        <p:nvPicPr>
          <p:cNvPr id="8" name="图片 7" descr="TESOL_BADGE-removebg-previe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5460" y="2853055"/>
            <a:ext cx="616585" cy="715010"/>
          </a:xfrm>
          <a:prstGeom prst="rect">
            <a:avLst/>
          </a:prstGeom>
          <a:ln w="28575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301</Words>
  <Application>Microsoft Office PowerPoint</Application>
  <PresentationFormat>宽屏</PresentationFormat>
  <Paragraphs>53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等线</vt:lpstr>
      <vt:lpstr>等线 Light</vt:lpstr>
      <vt:lpstr>微软雅黑</vt:lpstr>
      <vt:lpstr>微软雅黑 Light</vt:lpstr>
      <vt:lpstr>Arial</vt:lpstr>
      <vt:lpstr>Calibri</vt:lpstr>
      <vt:lpstr>Comic Sans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Cong Li</dc:creator>
  <cp:lastModifiedBy>Lingling Li</cp:lastModifiedBy>
  <cp:revision>19</cp:revision>
  <dcterms:created xsi:type="dcterms:W3CDTF">2021-07-17T06:42:00Z</dcterms:created>
  <dcterms:modified xsi:type="dcterms:W3CDTF">2025-07-09T08:02:16Z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47FF935B34904B8C9978DB6AD7B6B2A0</vt:lpwstr>
  </property>
  <property fmtid="{D5CDD505-2E9C-101B-9397-08002B2CF9AE}" pid="3" name="KSOProductBuildVer">
    <vt:lpwstr>2052-11.1.0.10667</vt:lpwstr>
  </property>
</Properties>
</file>