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57" r:id="rId4"/>
    <p:sldId id="258" r:id="rId5"/>
    <p:sldId id="262" r:id="rId6"/>
    <p:sldId id="26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334B"/>
    <a:srgbClr val="74B889"/>
    <a:srgbClr val="83543C"/>
    <a:srgbClr val="D56D29"/>
    <a:srgbClr val="49B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AEB10-69EC-4950-BA37-6B1E66022FD0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CF5EF-CFE7-47A7-920F-7D6ECD51A7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10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2382D-1AAE-46D5-8844-32BAC2D15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D83B06-7EFF-4262-B842-FE02C9A7B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2CB8FC-BFD0-4EEE-8273-F60B7EED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E74146-FD4A-4552-A694-8A8404E8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B09C94-D22B-43B6-8C94-580E0091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21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93009-B9E5-4ED0-B644-EC1ACE15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E4E1DA-A407-49D6-943C-5F7B681DF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19A49C-A1D5-4F48-A954-AECFF6D8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FE4E22-01A4-46A5-A19A-724D9797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4547E-7F9E-46F0-9660-81908C0B0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80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15990-B66B-4B4C-BA38-A7BAA82E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68B62-D1A4-49FB-A1D3-240C8854E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EEABB7-AAAE-4FA9-9492-A3ABC4F5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14365E-75C8-4F64-90F4-4D87AF36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668F52-F385-4EF7-8D06-EEC61F58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80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5D99E-1126-4062-871F-0D122B2D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46DF15-EB32-44A5-8BA1-D6AD1867E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7A9BFF-C3BD-46C1-A6C2-F2DD16F1B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96BF7B-E9DD-46DB-A8AD-F9410811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54652-6698-4E6D-AC3D-506D2485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3A97B-3B92-4A71-A7E9-48A8077B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278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11824-C357-435F-AD89-5B43B462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C268DC-F897-469A-AD3C-3C28B3DE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427C71-E225-4356-BE9A-7EA524ABF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30F83C-FAFE-4CB9-9B02-48B878F43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87D0A7-31CB-4830-9182-0B17F7EB2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BB2AE9-208E-456F-9749-C794824D0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2DA50E-563F-4F01-820F-1A849668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196813-2D85-46C2-BBD7-8F86F282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93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A0E62-BED8-460B-ADD2-E912EF7B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F4D611-0D21-4083-8494-4946835A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7C971E-C1D4-4978-8B78-1B8A3717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D6AC7F-138B-494A-B9B9-7773F861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85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3089D1-23E3-4CFA-93FB-FBA1EC17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A806E9-D398-4B5F-B10B-A97D9928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EF02E4-D08D-4BCD-A300-F75033F2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57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0160E-09AC-47F6-BD84-66A0C574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C03B68-3783-4E24-8BA0-8F44AC2DE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B45CA7-D125-4C66-B142-B4707B819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D9403D-0A25-4CB9-BEB0-DEAC8457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04A795-223D-43B1-95F4-C584D4EE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1C7A47-11FA-40BF-99D0-F4D82FE8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83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2BC34-E086-4C8C-AB12-1159751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54F496-017C-4C86-A913-8D2C95B3D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6276E5-FC27-4DA4-B7C1-92D2100D9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A8A93B-B479-4EC5-8B8D-FA5EA3BF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2A502E-9E65-4D59-AF0C-E619F247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FD7872-B3D2-4D69-9019-F745DA05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650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F5A49-00BE-4186-B488-233012DB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9BF7C2-FBF3-4B69-B730-4CAA0DB1D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4F6BD2-1CDD-4CF6-856A-B0862F48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31E6A2-12F3-49DC-9EED-0D67C2CC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E56BA3-3F5A-48A9-BEDF-9447505B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02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2CC46E-D73A-43AF-9494-8535A1FB0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DE751E-C09F-442E-B4BE-113717244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6FF951-FE2D-466D-848F-38238710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ADA89-75AF-40A0-B4C8-A3FD0D94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8D106A-C7E1-4096-83B8-E518411A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49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D9C9F6-3CCC-45A3-BE05-DA70B8095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A11038-56FE-4F16-BB31-0B73D4757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3693EB-BE82-4A79-B3C5-0F1345F00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D88B6-9CBE-41A3-A221-9CD46AAAA591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381572-C731-4406-8C8F-A57B0AEF0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307EE-A843-4D43-9FBB-1C52BA56C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50772-753E-47D3-9FB9-00FC4977C5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32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F334EB8-7112-4DD4-8133-0396C8A04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952A633-AF2C-77D6-A6A3-7166011032AB}"/>
              </a:ext>
            </a:extLst>
          </p:cNvPr>
          <p:cNvSpPr/>
          <p:nvPr/>
        </p:nvSpPr>
        <p:spPr>
          <a:xfrm>
            <a:off x="10830757" y="0"/>
            <a:ext cx="1296139" cy="532660"/>
          </a:xfrm>
          <a:prstGeom prst="rect">
            <a:avLst/>
          </a:prstGeom>
          <a:solidFill>
            <a:srgbClr val="265777"/>
          </a:solidFill>
          <a:ln>
            <a:solidFill>
              <a:srgbClr val="265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E467BE-1C56-E0F9-7B95-6F55AA5B6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331" y="2086576"/>
            <a:ext cx="476250" cy="4476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98D917-793B-5EDC-3A1D-F3C0CD22B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005" y="3727048"/>
            <a:ext cx="476250" cy="4476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1A9255B-4555-4A5E-8455-5D5967E80F0F}"/>
              </a:ext>
            </a:extLst>
          </p:cNvPr>
          <p:cNvSpPr txBox="1"/>
          <p:nvPr/>
        </p:nvSpPr>
        <p:spPr>
          <a:xfrm>
            <a:off x="3690890" y="1373956"/>
            <a:ext cx="759040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Congratulations! You finished your first class in </a:t>
            </a:r>
            <a:r>
              <a:rPr lang="en-US" altLang="zh-CN" sz="4000" b="1" dirty="0" err="1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Acadsoc</a:t>
            </a:r>
            <a:r>
              <a:rPr lang="en-US" altLang="zh-CN" sz="40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.         Hooray!</a:t>
            </a:r>
          </a:p>
          <a:p>
            <a:pPr algn="ctr"/>
            <a:r>
              <a:rPr lang="zh-CN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恭喜你完成了在阿卡索的第一节课。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ctr"/>
            <a:r>
              <a:rPr lang="zh-CN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棒棒哒！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B15109F-1486-A3F1-7286-9576C56DCF9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614942" y="3732334"/>
            <a:ext cx="5742305" cy="249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2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60E5-1DD9-F4DC-7A68-8FDB7F66E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0FE223-735A-DF90-CCDB-34D8D1283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104" y="-62144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F3A5A7E-D8C4-2C0D-9862-54247CF2BE2B}"/>
              </a:ext>
            </a:extLst>
          </p:cNvPr>
          <p:cNvSpPr txBox="1"/>
          <p:nvPr/>
        </p:nvSpPr>
        <p:spPr>
          <a:xfrm>
            <a:off x="4690834" y="5024762"/>
            <a:ext cx="2547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mic Sans MS" panose="030F0702030302020204" pitchFamily="66" charset="0"/>
                <a:ea typeface="微软雅黑" panose="020B0503020204020204" pitchFamily="34" charset="-122"/>
              </a:rPr>
              <a:t>( for students above 8 years old)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C9A798-8AF4-C2D9-7398-6D8D2F839664}"/>
              </a:ext>
            </a:extLst>
          </p:cNvPr>
          <p:cNvSpPr/>
          <p:nvPr/>
        </p:nvSpPr>
        <p:spPr>
          <a:xfrm>
            <a:off x="10797151" y="0"/>
            <a:ext cx="1329745" cy="543756"/>
          </a:xfrm>
          <a:prstGeom prst="rect">
            <a:avLst/>
          </a:prstGeom>
          <a:solidFill>
            <a:srgbClr val="8633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459FF2-8C43-B80A-39F9-8061C3E47503}"/>
              </a:ext>
            </a:extLst>
          </p:cNvPr>
          <p:cNvSpPr txBox="1"/>
          <p:nvPr/>
        </p:nvSpPr>
        <p:spPr>
          <a:xfrm>
            <a:off x="4145872" y="2166527"/>
            <a:ext cx="687226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Where are mom and dad? Let them listen to your class feedback.</a:t>
            </a:r>
            <a:br>
              <a:rPr lang="en-US" altLang="zh-CN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</a:br>
            <a:br>
              <a:rPr lang="en-US" altLang="zh-CN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</a:br>
            <a:r>
              <a:rPr lang="zh-CN" altLang="en-US" sz="2400" b="1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爸爸妈妈在哪里？让他们一起来听一下你的课堂反馈吧。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0461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D2ABB1-CC94-4E16-8AAC-9AD31F4B8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593FD52-D3BF-4C10-8EF0-DBC2A0E5C739}"/>
              </a:ext>
            </a:extLst>
          </p:cNvPr>
          <p:cNvSpPr txBox="1"/>
          <p:nvPr/>
        </p:nvSpPr>
        <p:spPr>
          <a:xfrm>
            <a:off x="4293705" y="941768"/>
            <a:ext cx="4002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cap="none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/>
              </a:rPr>
              <a:t>Assessment</a:t>
            </a:r>
            <a:r>
              <a:rPr lang="en-US" altLang="zh-CN" sz="2800" b="1" dirty="0">
                <a:solidFill>
                  <a:srgbClr val="0070C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/>
              </a:rPr>
              <a:t> </a:t>
            </a:r>
            <a:r>
              <a:rPr lang="zh-CN" altLang="en-US" sz="2800" b="1" i="0" u="none" strike="noStrike" cap="none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/>
              </a:rPr>
              <a:t>课堂评价</a:t>
            </a:r>
            <a:endParaRPr lang="zh-CN" altLang="en-US" sz="2800" b="1" dirty="0">
              <a:solidFill>
                <a:srgbClr val="0070C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/>
            </a:endParaRPr>
          </a:p>
        </p:txBody>
      </p:sp>
      <p:sp>
        <p:nvSpPr>
          <p:cNvPr id="6" name="Google Shape;175;p1">
            <a:extLst>
              <a:ext uri="{FF2B5EF4-FFF2-40B4-BE49-F238E27FC236}">
                <a16:creationId xmlns:a16="http://schemas.microsoft.com/office/drawing/2014/main" id="{B6759930-8A3C-4178-BB5D-E9E74EE2C317}"/>
              </a:ext>
            </a:extLst>
          </p:cNvPr>
          <p:cNvSpPr txBox="1"/>
          <p:nvPr/>
        </p:nvSpPr>
        <p:spPr>
          <a:xfrm>
            <a:off x="1977027" y="1907327"/>
            <a:ext cx="9194555" cy="276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PH" altLang="zh-CN" sz="24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You did great in class!</a:t>
            </a:r>
          </a:p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你在课堂上的表现很棒！</a:t>
            </a:r>
            <a:endParaRPr lang="en-PH" altLang="zh-CN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endParaRPr lang="en-PH" altLang="zh-CN" sz="2400" b="1" dirty="0">
              <a:solidFill>
                <a:schemeClr val="accent2"/>
              </a:solidFill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PH" altLang="zh-CN" sz="24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You were able to learn __________</a:t>
            </a:r>
            <a:r>
              <a:rPr lang="en-US" altLang="zh-CN" sz="24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__________</a:t>
            </a:r>
            <a:r>
              <a:rPr lang="en-PH" altLang="zh-CN" sz="24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 very fast and were able to participate in our activities. </a:t>
            </a:r>
          </a:p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你学习的速度很快而且积极得参加课堂活动</a:t>
            </a:r>
            <a:r>
              <a:rPr lang="en-US" altLang="zh-CN" sz="2000" b="1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, </a:t>
            </a:r>
            <a:r>
              <a:rPr lang="zh-CN" altLang="en-US" sz="2000" b="1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太棒了</a:t>
            </a:r>
            <a:r>
              <a:rPr lang="zh-CN" altLang="en-US" sz="2400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</a:rPr>
              <a:t>！</a:t>
            </a:r>
            <a:endParaRPr lang="en-PH" altLang="zh-CN" sz="2400" dirty="0">
              <a:solidFill>
                <a:srgbClr val="002060"/>
              </a:solidFill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PH" altLang="zh-CN" sz="2400" b="1" dirty="0">
              <a:solidFill>
                <a:srgbClr val="0070C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C91DC3-58CC-4942-8587-309266F355E1}"/>
              </a:ext>
            </a:extLst>
          </p:cNvPr>
          <p:cNvSpPr txBox="1"/>
          <p:nvPr/>
        </p:nvSpPr>
        <p:spPr>
          <a:xfrm>
            <a:off x="1977027" y="4660518"/>
            <a:ext cx="8929511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/>
              </a:rPr>
              <a:t>You also did a good job in  __________________.</a:t>
            </a:r>
          </a:p>
          <a:p>
            <a:pPr marL="0" marR="0" lvl="0" indent="0" algn="l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/>
              </a:rPr>
              <a:t>你在这些方面也表现得很好</a:t>
            </a:r>
            <a:r>
              <a:rPr lang="en-US" altLang="zh-CN" sz="2000" b="1" dirty="0">
                <a:solidFill>
                  <a:srgbClr val="002060"/>
                </a:solidFill>
                <a:latin typeface="Comic Sans MS" panose="030F0702030302020204" pitchFamily="66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/>
              </a:rPr>
              <a:t>…….</a:t>
            </a:r>
            <a:endParaRPr lang="zh-CN" altLang="en-US" sz="2000" b="1" i="0" u="none" strike="noStrike" cap="none" dirty="0">
              <a:solidFill>
                <a:srgbClr val="00206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B2CF74-D96F-FE5B-F5B4-CE6EF7C0A5B5}"/>
              </a:ext>
            </a:extLst>
          </p:cNvPr>
          <p:cNvSpPr/>
          <p:nvPr/>
        </p:nvSpPr>
        <p:spPr>
          <a:xfrm>
            <a:off x="10818922" y="11096"/>
            <a:ext cx="1296139" cy="532660"/>
          </a:xfrm>
          <a:prstGeom prst="rect">
            <a:avLst/>
          </a:prstGeom>
          <a:solidFill>
            <a:srgbClr val="56D6EA"/>
          </a:solidFill>
          <a:ln>
            <a:solidFill>
              <a:srgbClr val="4CD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9531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43FAB3-AB19-4704-87E6-B89A0ECF3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1444539-ECC1-4C2F-A8DE-970C172B308D}"/>
              </a:ext>
            </a:extLst>
          </p:cNvPr>
          <p:cNvSpPr txBox="1"/>
          <p:nvPr/>
        </p:nvSpPr>
        <p:spPr>
          <a:xfrm>
            <a:off x="4439478" y="928516"/>
            <a:ext cx="33130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rgbClr val="002060"/>
                </a:solidFill>
                <a:latin typeface="Comic Sans MS" panose="030F0702030302020204" pitchFamily="66" charset="0"/>
                <a:ea typeface="Arial" panose="020B0604020202020204"/>
                <a:cs typeface="Arial" panose="020B0604020202020204"/>
                <a:sym typeface="Arial" panose="020B0604020202020204"/>
              </a:rPr>
              <a:t>Feedback / </a:t>
            </a:r>
            <a:r>
              <a:rPr lang="zh-CN" altLang="en-US" sz="2800" b="1" dirty="0">
                <a:solidFill>
                  <a:srgbClr val="002060"/>
                </a:solidFill>
                <a:latin typeface="Comic Sans MS" panose="030F0702030302020204" pitchFamily="66" charset="0"/>
                <a:ea typeface="Arial" panose="020B0604020202020204"/>
                <a:cs typeface="Arial" panose="020B0604020202020204"/>
                <a:sym typeface="Arial" panose="020B0604020202020204"/>
              </a:rPr>
              <a:t>反馈</a:t>
            </a:r>
            <a:endParaRPr lang="zh-CN" altLang="en-US" sz="2800" b="1" dirty="0">
              <a:solidFill>
                <a:srgbClr val="002060"/>
              </a:solidFill>
              <a:latin typeface="Comic Sans MS" panose="030F0702030302020204" pitchFamily="66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/>
            </a:endParaRPr>
          </a:p>
        </p:txBody>
      </p: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551DC5A2-86BF-476C-92CD-634417B92F52}"/>
              </a:ext>
            </a:extLst>
          </p:cNvPr>
          <p:cNvSpPr txBox="1"/>
          <p:nvPr/>
        </p:nvSpPr>
        <p:spPr>
          <a:xfrm>
            <a:off x="987286" y="1552473"/>
            <a:ext cx="10217425" cy="355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PH" altLang="zh-CN" sz="2400" b="1" dirty="0">
                <a:solidFill>
                  <a:srgbClr val="C00000"/>
                </a:solidFill>
                <a:latin typeface="Comic Sans MS" panose="030F0702030302020204" pitchFamily="66" charset="0"/>
              </a:rPr>
              <a:t>However, you still have challenges in </a:t>
            </a:r>
            <a:r>
              <a:rPr lang="en-US" altLang="zh-CN" sz="2400" b="1" dirty="0">
                <a:solidFill>
                  <a:srgbClr val="C00000"/>
                </a:solidFill>
                <a:latin typeface="Comic Sans MS" panose="030F0702030302020204" pitchFamily="66" charset="0"/>
              </a:rPr>
              <a:t>the following words/sentences</a:t>
            </a:r>
            <a:r>
              <a:rPr lang="en-US" altLang="zh-CN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不过，我发现下面这些单词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句子对你来说还是有一点挑战性哦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</a:p>
          <a:p>
            <a:pPr>
              <a:lnSpc>
                <a:spcPts val="3000"/>
              </a:lnSpc>
            </a:pPr>
            <a:endParaRPr lang="en-PH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PH" altLang="zh-CN" sz="2400" b="1" dirty="0">
                <a:solidFill>
                  <a:srgbClr val="C00000"/>
                </a:solidFill>
                <a:latin typeface="Comic Sans MS" panose="030F0702030302020204" pitchFamily="66" charset="0"/>
              </a:rPr>
              <a:t>So, please </a:t>
            </a:r>
            <a:r>
              <a:rPr lang="en-US" altLang="zh-CN" sz="2400" b="1" dirty="0">
                <a:solidFill>
                  <a:srgbClr val="C00000"/>
                </a:solidFill>
                <a:latin typeface="Comic Sans MS" panose="030F0702030302020204" pitchFamily="66" charset="0"/>
              </a:rPr>
              <a:t>repeat after me</a:t>
            </a:r>
            <a:r>
              <a:rPr lang="en-PH" altLang="zh-CN" sz="2400" b="1" dirty="0">
                <a:solidFill>
                  <a:srgbClr val="C00000"/>
                </a:solidFill>
                <a:latin typeface="Comic Sans MS" panose="030F0702030302020204" pitchFamily="66" charset="0"/>
              </a:rPr>
              <a:t>:</a:t>
            </a: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所以，请跟我再读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复习一下吧：</a:t>
            </a:r>
            <a:endParaRPr lang="en-PH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endParaRPr lang="en-PH" altLang="zh-CN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002060"/>
                </a:solidFill>
                <a:latin typeface="Comic Sans MS" panose="030F0702030302020204" pitchFamily="66" charset="0"/>
              </a:rPr>
              <a:t>#1.__________________________  #2.______________________________</a:t>
            </a:r>
          </a:p>
          <a:p>
            <a:pPr>
              <a:lnSpc>
                <a:spcPts val="3000"/>
              </a:lnSpc>
            </a:pPr>
            <a:endParaRPr lang="en-PH" altLang="zh-CN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002060"/>
                </a:solidFill>
                <a:latin typeface="Comic Sans MS" panose="030F0702030302020204" pitchFamily="66" charset="0"/>
              </a:rPr>
              <a:t>#3.__________________________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49BDB5-538A-4309-8E52-D1B735489788}"/>
              </a:ext>
            </a:extLst>
          </p:cNvPr>
          <p:cNvSpPr txBox="1"/>
          <p:nvPr/>
        </p:nvSpPr>
        <p:spPr>
          <a:xfrm>
            <a:off x="987286" y="5305527"/>
            <a:ext cx="6188764" cy="457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Comic Sans MS" panose="030F0702030302020204" pitchFamily="66" charset="0"/>
                <a:ea typeface="Arial" panose="020B0604020202020204"/>
                <a:cs typeface="Arial" panose="020B0604020202020204"/>
                <a:sym typeface="Arial" panose="020B0604020202020204"/>
              </a:rPr>
              <a:t>Good Job! Great! </a:t>
            </a:r>
            <a:r>
              <a:rPr lang="zh-CN" altLang="en-US" sz="2400" b="1" dirty="0">
                <a:solidFill>
                  <a:srgbClr val="002060"/>
                </a:solidFill>
                <a:latin typeface="Comic Sans MS" panose="030F0702030302020204" pitchFamily="66" charset="0"/>
                <a:ea typeface="Arial" panose="020B0604020202020204"/>
                <a:cs typeface="Arial" panose="020B0604020202020204"/>
                <a:sym typeface="Arial" panose="020B0604020202020204"/>
              </a:rPr>
              <a:t>你做得很好！  </a:t>
            </a:r>
            <a:endParaRPr lang="en-US" altLang="zh-CN" sz="2400" b="1" dirty="0">
              <a:solidFill>
                <a:srgbClr val="002060"/>
              </a:solidFill>
              <a:latin typeface="Comic Sans MS" panose="030F0702030302020204" pitchFamily="66" charset="0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CB9CA4-EFBC-35CA-0B73-04173FA0EACF}"/>
              </a:ext>
            </a:extLst>
          </p:cNvPr>
          <p:cNvSpPr/>
          <p:nvPr/>
        </p:nvSpPr>
        <p:spPr>
          <a:xfrm>
            <a:off x="10830757" y="0"/>
            <a:ext cx="1296139" cy="532660"/>
          </a:xfrm>
          <a:prstGeom prst="rect">
            <a:avLst/>
          </a:prstGeom>
          <a:solidFill>
            <a:srgbClr val="265777"/>
          </a:solidFill>
          <a:ln>
            <a:solidFill>
              <a:srgbClr val="265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7282F6-3427-3CDA-F29B-23058592EE95}"/>
              </a:ext>
            </a:extLst>
          </p:cNvPr>
          <p:cNvSpPr/>
          <p:nvPr/>
        </p:nvSpPr>
        <p:spPr>
          <a:xfrm>
            <a:off x="10797151" y="0"/>
            <a:ext cx="1329745" cy="543756"/>
          </a:xfrm>
          <a:prstGeom prst="rect">
            <a:avLst/>
          </a:prstGeom>
          <a:solidFill>
            <a:srgbClr val="49B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6910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3F7A-3DFC-BEEF-995D-B79AF7B1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7E0EE7-80B1-71D9-B7A6-D03B41B12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292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42FA4CE-A561-E767-DA5A-7DB1E93CBB06}"/>
              </a:ext>
            </a:extLst>
          </p:cNvPr>
          <p:cNvSpPr/>
          <p:nvPr/>
        </p:nvSpPr>
        <p:spPr>
          <a:xfrm>
            <a:off x="10830757" y="0"/>
            <a:ext cx="1296139" cy="532660"/>
          </a:xfrm>
          <a:prstGeom prst="rect">
            <a:avLst/>
          </a:prstGeom>
          <a:solidFill>
            <a:srgbClr val="265777"/>
          </a:solidFill>
          <a:ln>
            <a:solidFill>
              <a:srgbClr val="265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4AA029-4068-56E2-729A-6931A9B8ADC4}"/>
              </a:ext>
            </a:extLst>
          </p:cNvPr>
          <p:cNvSpPr/>
          <p:nvPr/>
        </p:nvSpPr>
        <p:spPr>
          <a:xfrm>
            <a:off x="10797151" y="0"/>
            <a:ext cx="1329745" cy="543756"/>
          </a:xfrm>
          <a:prstGeom prst="rect">
            <a:avLst/>
          </a:prstGeom>
          <a:solidFill>
            <a:srgbClr val="49B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C55499-F619-7EE0-9230-C0B8E3FD71EA}"/>
              </a:ext>
            </a:extLst>
          </p:cNvPr>
          <p:cNvSpPr txBox="1"/>
          <p:nvPr/>
        </p:nvSpPr>
        <p:spPr>
          <a:xfrm>
            <a:off x="3942118" y="668506"/>
            <a:ext cx="430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 algn="ctr">
              <a:defRPr sz="2400" b="1">
                <a:solidFill>
                  <a:srgbClr val="697DA9"/>
                </a:solidFill>
                <a:latin typeface="方正静蕾简体"/>
                <a:ea typeface="方正静蕾简体"/>
              </a:defRPr>
            </a:lvl1pPr>
          </a:lstStyle>
          <a:p>
            <a:r>
              <a:rPr lang="en-US" sz="28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/>
              </a:rPr>
              <a:t>Suggestions</a:t>
            </a:r>
            <a:r>
              <a:rPr lang="zh-CN" altLang="en-US" sz="2800" dirty="0">
                <a:solidFill>
                  <a:srgbClr val="002060"/>
                </a:solidFill>
                <a:latin typeface="Comic Sans MS" panose="030F0702030302020204" pitchFamily="66" charset="0"/>
                <a:cs typeface="Arial" panose="020B0604020202020204"/>
              </a:rPr>
              <a:t> 建议</a:t>
            </a:r>
          </a:p>
        </p:txBody>
      </p:sp>
      <p:sp>
        <p:nvSpPr>
          <p:cNvPr id="65" name="PA_库_文本框 104">
            <a:extLst>
              <a:ext uri="{FF2B5EF4-FFF2-40B4-BE49-F238E27FC236}">
                <a16:creationId xmlns:a16="http://schemas.microsoft.com/office/drawing/2014/main" id="{0F935B15-54D3-6240-58B2-1707CC9F3A3D}"/>
              </a:ext>
            </a:extLst>
          </p:cNvPr>
          <p:cNvSpPr txBox="1"/>
          <p:nvPr/>
        </p:nvSpPr>
        <p:spPr>
          <a:xfrm>
            <a:off x="2195301" y="1292338"/>
            <a:ext cx="259651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r>
              <a:rPr lang="en-US" sz="2400" b="1" dirty="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Vocabulary </a:t>
            </a:r>
            <a:r>
              <a:rPr lang="zh-CN" sz="2400" b="1" dirty="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词汇</a:t>
            </a:r>
            <a:endParaRPr 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PA_库_文本框 105">
            <a:extLst>
              <a:ext uri="{FF2B5EF4-FFF2-40B4-BE49-F238E27FC236}">
                <a16:creationId xmlns:a16="http://schemas.microsoft.com/office/drawing/2014/main" id="{F783B493-56E7-436B-5C60-9AEA43823755}"/>
              </a:ext>
            </a:extLst>
          </p:cNvPr>
          <p:cNvSpPr txBox="1"/>
          <p:nvPr/>
        </p:nvSpPr>
        <p:spPr>
          <a:xfrm>
            <a:off x="2195301" y="2357271"/>
            <a:ext cx="4293468" cy="523220"/>
          </a:xfrm>
          <a:prstGeom prst="rect">
            <a:avLst/>
          </a:prstGeom>
          <a:noFill/>
        </p:spPr>
        <p:txBody>
          <a:bodyPr wrap="none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algn="l">
              <a:buClrTx/>
              <a:buSzTx/>
              <a:buFontTx/>
            </a:pPr>
            <a:r>
              <a:rPr lang="en-US" sz="2400" b="1" dirty="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Language Sense </a:t>
            </a:r>
            <a:r>
              <a:rPr lang="en-US" sz="2400" b="1" dirty="0" err="1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语感</a:t>
            </a:r>
            <a:endParaRPr lang="en-US" sz="2400" b="1" dirty="0">
              <a:solidFill>
                <a:srgbClr val="697D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PA_库_文本框 106">
            <a:extLst>
              <a:ext uri="{FF2B5EF4-FFF2-40B4-BE49-F238E27FC236}">
                <a16:creationId xmlns:a16="http://schemas.microsoft.com/office/drawing/2014/main" id="{068F105F-113D-E5F1-7EF6-FD42D1D743E4}"/>
              </a:ext>
            </a:extLst>
          </p:cNvPr>
          <p:cNvSpPr txBox="1"/>
          <p:nvPr/>
        </p:nvSpPr>
        <p:spPr>
          <a:xfrm>
            <a:off x="2195303" y="4385707"/>
            <a:ext cx="90297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algn="l">
              <a:buClrTx/>
              <a:buSzTx/>
              <a:buFontTx/>
            </a:pPr>
            <a:r>
              <a:rPr lang="en-US" sz="2400" b="1" dirty="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English nursery songs and cartoons </a:t>
            </a:r>
            <a:r>
              <a:rPr lang="en-US" sz="2400" b="1" dirty="0" err="1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英语儿歌动画推荐</a:t>
            </a:r>
            <a:endParaRPr lang="zh-CN" sz="2400" dirty="0">
              <a:solidFill>
                <a:srgbClr val="697DA9"/>
              </a:solidFill>
              <a:latin typeface="方正静蕾简体"/>
              <a:ea typeface="方正静蕾简体"/>
            </a:endParaRPr>
          </a:p>
        </p:txBody>
      </p:sp>
      <p:sp>
        <p:nvSpPr>
          <p:cNvPr id="68" name="PA_库_文本框 108">
            <a:extLst>
              <a:ext uri="{FF2B5EF4-FFF2-40B4-BE49-F238E27FC236}">
                <a16:creationId xmlns:a16="http://schemas.microsoft.com/office/drawing/2014/main" id="{368D8FF3-E069-DEA1-24B2-5AD88A2891C3}"/>
              </a:ext>
            </a:extLst>
          </p:cNvPr>
          <p:cNvSpPr txBox="1"/>
          <p:nvPr/>
        </p:nvSpPr>
        <p:spPr>
          <a:xfrm>
            <a:off x="2195301" y="1846511"/>
            <a:ext cx="7801389" cy="584775"/>
          </a:xfrm>
          <a:prstGeom prst="rect">
            <a:avLst/>
          </a:prstGeom>
          <a:noFill/>
        </p:spPr>
        <p:txBody>
          <a:bodyPr wrap="square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Read words loudly</a:t>
            </a:r>
            <a:r>
              <a:rPr lang="zh-CN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every day </a:t>
            </a:r>
            <a:r>
              <a:rPr lang="zh-CN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每天大声朗读单词练习发音</a:t>
            </a:r>
            <a:endParaRPr lang="en-US" sz="2000" b="1" dirty="0">
              <a:solidFill>
                <a:srgbClr val="C00000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69" name="PA_库_文本框 108">
            <a:extLst>
              <a:ext uri="{FF2B5EF4-FFF2-40B4-BE49-F238E27FC236}">
                <a16:creationId xmlns:a16="http://schemas.microsoft.com/office/drawing/2014/main" id="{1591565F-D800-8081-D27F-E1FABD97A0D5}"/>
              </a:ext>
            </a:extLst>
          </p:cNvPr>
          <p:cNvSpPr txBox="1"/>
          <p:nvPr/>
        </p:nvSpPr>
        <p:spPr>
          <a:xfrm>
            <a:off x="2195301" y="2892906"/>
            <a:ext cx="8788801" cy="104513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 sz="1600">
                <a:solidFill>
                  <a:schemeClr val="tx2">
                    <a:lumMod val="75000"/>
                  </a:schemeClr>
                </a:solidFill>
                <a:latin typeface="方正静蕾简体"/>
                <a:ea typeface="方正静蕾简体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Listening to English nursery songs or watching English cartoons  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foster the English language sense 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improve pronunciation skills. </a:t>
            </a:r>
          </a:p>
          <a:p>
            <a:r>
              <a:rPr lang="zh-CN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每天坚持听英文儿歌和看英文动画片</a:t>
            </a:r>
            <a:r>
              <a:rPr lang="en-US" altLang="zh-CN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, </a:t>
            </a:r>
            <a:r>
              <a:rPr lang="zh-CN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增强孩子英语语感，提高发音水平</a:t>
            </a:r>
            <a:r>
              <a:rPr lang="zh-CN" altLang="en-US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。</a:t>
            </a:r>
            <a:endParaRPr lang="zh-CN" sz="2000" b="1" dirty="0">
              <a:solidFill>
                <a:srgbClr val="C00000"/>
              </a:solidFill>
              <a:latin typeface="Comic Sans MS" panose="030F0702030302020204" pitchFamily="66" charset="0"/>
              <a:ea typeface="+mn-ea"/>
            </a:endParaRPr>
          </a:p>
        </p:txBody>
      </p:sp>
      <p:sp>
        <p:nvSpPr>
          <p:cNvPr id="70" name="PA_库_文本框 108">
            <a:extLst>
              <a:ext uri="{FF2B5EF4-FFF2-40B4-BE49-F238E27FC236}">
                <a16:creationId xmlns:a16="http://schemas.microsoft.com/office/drawing/2014/main" id="{2F0708A0-42A8-9D38-123E-00D522D6A0FB}"/>
              </a:ext>
            </a:extLst>
          </p:cNvPr>
          <p:cNvSpPr txBox="1"/>
          <p:nvPr/>
        </p:nvSpPr>
        <p:spPr>
          <a:xfrm>
            <a:off x="2125022" y="4983048"/>
            <a:ext cx="7941945" cy="82994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 sz="1600">
                <a:solidFill>
                  <a:schemeClr val="tx2">
                    <a:lumMod val="75000"/>
                  </a:schemeClr>
                </a:solidFill>
                <a:latin typeface="方正静蕾简体"/>
                <a:ea typeface="方正静蕾简体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r>
              <a:rPr lang="zh-CN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歌曲</a:t>
            </a:r>
            <a:r>
              <a:rPr lang="en-US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: Hokey pokey, Head, Shoulders, Knees and Toes, </a:t>
            </a:r>
          </a:p>
          <a:p>
            <a:r>
              <a:rPr lang="zh-CN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动画片</a:t>
            </a:r>
            <a:r>
              <a:rPr lang="en-US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:Peppa pig  </a:t>
            </a:r>
            <a:r>
              <a:rPr lang="zh-CN" sz="2000" b="1" dirty="0">
                <a:solidFill>
                  <a:srgbClr val="C00000"/>
                </a:solidFill>
                <a:latin typeface="Comic Sans MS" panose="030F0702030302020204" pitchFamily="66" charset="0"/>
                <a:ea typeface="+mn-ea"/>
              </a:rPr>
              <a:t>小猪佩奇英文版</a:t>
            </a:r>
          </a:p>
        </p:txBody>
      </p:sp>
    </p:spTree>
    <p:extLst>
      <p:ext uri="{BB962C8B-B14F-4D97-AF65-F5344CB8AC3E}">
        <p14:creationId xmlns:p14="http://schemas.microsoft.com/office/powerpoint/2010/main" val="37740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C628-2C32-A7D7-9763-868E532F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D21C41-0618-5A88-32FF-CDBBCC2F4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B72F18-DBCC-6496-A08D-42BA3A31BE85}"/>
              </a:ext>
            </a:extLst>
          </p:cNvPr>
          <p:cNvSpPr/>
          <p:nvPr/>
        </p:nvSpPr>
        <p:spPr>
          <a:xfrm>
            <a:off x="10830757" y="0"/>
            <a:ext cx="1296139" cy="532660"/>
          </a:xfrm>
          <a:prstGeom prst="rect">
            <a:avLst/>
          </a:prstGeom>
          <a:solidFill>
            <a:srgbClr val="265777"/>
          </a:solidFill>
          <a:ln>
            <a:solidFill>
              <a:srgbClr val="265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16A6D2-286C-8919-7A5E-34C376172246}"/>
              </a:ext>
            </a:extLst>
          </p:cNvPr>
          <p:cNvSpPr/>
          <p:nvPr/>
        </p:nvSpPr>
        <p:spPr>
          <a:xfrm>
            <a:off x="10797151" y="0"/>
            <a:ext cx="1329745" cy="543756"/>
          </a:xfrm>
          <a:prstGeom prst="rect">
            <a:avLst/>
          </a:prstGeom>
          <a:solidFill>
            <a:srgbClr val="49B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8ADF3C-6276-5B97-925D-B1302D653E3F}"/>
              </a:ext>
            </a:extLst>
          </p:cNvPr>
          <p:cNvSpPr/>
          <p:nvPr/>
        </p:nvSpPr>
        <p:spPr>
          <a:xfrm>
            <a:off x="4511675" y="1593215"/>
            <a:ext cx="5309870" cy="4125595"/>
          </a:xfrm>
          <a:prstGeom prst="rect">
            <a:avLst/>
          </a:prstGeom>
          <a:solidFill>
            <a:srgbClr val="BDE5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2000" b="1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</a:rPr>
              <a:t>My Profile</a:t>
            </a:r>
            <a:endParaRPr lang="en-US"/>
          </a:p>
          <a:p>
            <a:pPr algn="l"/>
            <a:endParaRPr lang="en-US" sz="2000">
              <a:solidFill>
                <a:srgbClr val="697DA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sz="2000" b="1" u="sng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</a:rPr>
              <a:t>My certificate: </a:t>
            </a:r>
            <a:endParaRPr lang="en-US"/>
          </a:p>
          <a:p>
            <a:pPr algn="l"/>
            <a:r>
              <a:rPr lang="en-US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</a:rPr>
              <a:t>TESOL  </a:t>
            </a:r>
          </a:p>
          <a:p>
            <a:pPr algn="l"/>
            <a:r>
              <a:rPr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</a:rPr>
              <a:t>全球公认的ESL英语教师专业资格证</a:t>
            </a:r>
          </a:p>
          <a:p>
            <a:pPr algn="l"/>
            <a:endParaRPr sz="2000">
              <a:solidFill>
                <a:srgbClr val="697DA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sz="2000" b="1" u="sng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Strength in this textbook </a:t>
            </a:r>
          </a:p>
          <a:p>
            <a:pPr algn="l"/>
            <a:r>
              <a:rPr lang="zh-CN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Interaction</a:t>
            </a:r>
            <a:r>
              <a:rPr lang="en-US" altLang="zh-CN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, E</a:t>
            </a:r>
            <a:r>
              <a:rPr lang="zh-CN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xtension,</a:t>
            </a:r>
            <a:r>
              <a:rPr lang="en-US" altLang="zh-CN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 S</a:t>
            </a:r>
            <a:r>
              <a:rPr lang="zh-CN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timulation</a:t>
            </a:r>
          </a:p>
          <a:p>
            <a:pPr algn="l"/>
            <a:r>
              <a:rPr lang="zh-CN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擅长教材的互动，拓展和学习兴趣激发</a:t>
            </a:r>
          </a:p>
          <a:p>
            <a:pPr algn="l"/>
            <a:endParaRPr lang="zh-CN" sz="2000">
              <a:solidFill>
                <a:srgbClr val="697DA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/>
            <a:r>
              <a:rPr lang="en-US" sz="2000" b="1" u="sng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</a:rPr>
              <a:t>Specialize in: </a:t>
            </a:r>
            <a:endParaRPr lang="en-US"/>
          </a:p>
          <a:p>
            <a:pPr algn="l"/>
            <a:r>
              <a:rPr lang="en-US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</a:rPr>
              <a:t>Phonics, Words, O</a:t>
            </a:r>
            <a:r>
              <a:rPr lang="en-US" altLang="zh-CN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</a:rPr>
              <a:t>ral English</a:t>
            </a:r>
            <a:endParaRPr lang="en-US" sz="2000">
              <a:solidFill>
                <a:srgbClr val="697DA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2000">
                <a:solidFill>
                  <a:srgbClr val="697DA9"/>
                </a:solidFill>
                <a:latin typeface="微软雅黑" panose="020B0503020204020204" charset="-122"/>
                <a:ea typeface="微软雅黑" panose="020B0503020204020204" charset="-122"/>
              </a:rPr>
              <a:t>擅长教授语音和单词，口语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6275C88-60B1-6F85-20F0-1282E27C07F0}"/>
              </a:ext>
            </a:extLst>
          </p:cNvPr>
          <p:cNvPicPr/>
          <p:nvPr/>
        </p:nvPicPr>
        <p:blipFill>
          <a:blip r:embed="rId3"/>
          <a:srcRect l="22068"/>
          <a:stretch>
            <a:fillRect/>
          </a:stretch>
        </p:blipFill>
        <p:spPr>
          <a:xfrm>
            <a:off x="1231900" y="2105660"/>
            <a:ext cx="2641600" cy="221742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BCBF7E3-2B3E-8457-94E3-ADAF3B8799C1}"/>
              </a:ext>
            </a:extLst>
          </p:cNvPr>
          <p:cNvSpPr txBox="1"/>
          <p:nvPr/>
        </p:nvSpPr>
        <p:spPr>
          <a:xfrm>
            <a:off x="1686948" y="4460755"/>
            <a:ext cx="1731010" cy="368300"/>
          </a:xfrm>
          <a:prstGeom prst="rect">
            <a:avLst/>
          </a:prstGeom>
          <a:noFill/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rgbClr val="697DA9"/>
                </a:solidFill>
              </a:rPr>
              <a:t>Name</a:t>
            </a:r>
            <a:endParaRPr lang="en-US"/>
          </a:p>
        </p:txBody>
      </p:sp>
      <p:pic>
        <p:nvPicPr>
          <p:cNvPr id="16" name="图片 15" descr="TESOL_BADGE-removebg-preview">
            <a:extLst>
              <a:ext uri="{FF2B5EF4-FFF2-40B4-BE49-F238E27FC236}">
                <a16:creationId xmlns:a16="http://schemas.microsoft.com/office/drawing/2014/main" id="{29FC0775-F46F-EF5A-C7CF-4EAC85765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215" y="1947545"/>
            <a:ext cx="957580" cy="1109345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391786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340</Words>
  <Application>Microsoft Office PowerPoint</Application>
  <PresentationFormat>宽屏</PresentationFormat>
  <Paragraphs>49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方正静蕾简体</vt:lpstr>
      <vt:lpstr>微软雅黑</vt:lpstr>
      <vt:lpstr>Arial</vt:lpstr>
      <vt:lpstr>Comic Sans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Yingzhen Zheng</dc:creator>
  <cp:lastModifiedBy>Lingling Li</cp:lastModifiedBy>
  <cp:revision>21</cp:revision>
  <dcterms:created xsi:type="dcterms:W3CDTF">2021-03-16T04:01:06Z</dcterms:created>
  <dcterms:modified xsi:type="dcterms:W3CDTF">2025-07-09T07:56:23Z</dcterms:modified>
</cp:coreProperties>
</file>