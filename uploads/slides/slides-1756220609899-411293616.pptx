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Lilita One" charset="1" panose="02000000000000000000"/>
      <p:regular r:id="rId16"/>
    </p:embeddedFont>
    <p:embeddedFont>
      <p:font typeface="Solway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6375" y="1347438"/>
            <a:ext cx="4794434" cy="359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6"/>
              </a:lnSpc>
            </a:pPr>
            <a:r>
              <a:rPr lang="en-US" sz="8607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Health and Wellness Program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15450" y="1530830"/>
            <a:ext cx="3601414" cy="4649713"/>
          </a:xfrm>
          <a:custGeom>
            <a:avLst/>
            <a:gdLst/>
            <a:ahLst/>
            <a:cxnLst/>
            <a:rect r="r" b="b" t="t" l="l"/>
            <a:pathLst>
              <a:path h="4649713" w="3601414">
                <a:moveTo>
                  <a:pt x="0" y="0"/>
                </a:moveTo>
                <a:lnTo>
                  <a:pt x="3601413" y="0"/>
                </a:lnTo>
                <a:lnTo>
                  <a:pt x="3601413" y="4649713"/>
                </a:lnTo>
                <a:lnTo>
                  <a:pt x="0" y="4649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65434" y="1239756"/>
            <a:ext cx="1245187" cy="1391978"/>
          </a:xfrm>
          <a:custGeom>
            <a:avLst/>
            <a:gdLst/>
            <a:ahLst/>
            <a:cxnLst/>
            <a:rect r="r" b="b" t="t" l="l"/>
            <a:pathLst>
              <a:path h="1391978" w="1245187">
                <a:moveTo>
                  <a:pt x="0" y="0"/>
                </a:moveTo>
                <a:lnTo>
                  <a:pt x="1245187" y="0"/>
                </a:lnTo>
                <a:lnTo>
                  <a:pt x="1245187" y="1391978"/>
                </a:lnTo>
                <a:lnTo>
                  <a:pt x="0" y="1391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054982">
            <a:off x="3640896" y="6615713"/>
            <a:ext cx="2471808" cy="1087596"/>
          </a:xfrm>
          <a:custGeom>
            <a:avLst/>
            <a:gdLst/>
            <a:ahLst/>
            <a:cxnLst/>
            <a:rect r="r" b="b" t="t" l="l"/>
            <a:pathLst>
              <a:path h="1087596" w="2471808">
                <a:moveTo>
                  <a:pt x="0" y="0"/>
                </a:moveTo>
                <a:lnTo>
                  <a:pt x="2471808" y="0"/>
                </a:lnTo>
                <a:lnTo>
                  <a:pt x="2471808" y="1087596"/>
                </a:lnTo>
                <a:lnTo>
                  <a:pt x="0" y="1087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676002">
            <a:off x="8779657" y="4216439"/>
            <a:ext cx="1519992" cy="1655437"/>
          </a:xfrm>
          <a:custGeom>
            <a:avLst/>
            <a:gdLst/>
            <a:ahLst/>
            <a:cxnLst/>
            <a:rect r="r" b="b" t="t" l="l"/>
            <a:pathLst>
              <a:path h="1655437" w="1519992">
                <a:moveTo>
                  <a:pt x="0" y="0"/>
                </a:moveTo>
                <a:lnTo>
                  <a:pt x="1519992" y="0"/>
                </a:lnTo>
                <a:lnTo>
                  <a:pt x="1519992" y="1655437"/>
                </a:lnTo>
                <a:lnTo>
                  <a:pt x="0" y="1655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56375" y="5267175"/>
            <a:ext cx="317136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56669"/>
                </a:solidFill>
                <a:latin typeface="Solway"/>
                <a:ea typeface="Solway"/>
                <a:cs typeface="Solway"/>
                <a:sym typeface="Solway"/>
              </a:rPr>
              <a:t>Enhancing Well-being and Productivity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416157" y="948682"/>
            <a:ext cx="589653" cy="582148"/>
          </a:xfrm>
          <a:custGeom>
            <a:avLst/>
            <a:gdLst/>
            <a:ahLst/>
            <a:cxnLst/>
            <a:rect r="r" b="b" t="t" l="l"/>
            <a:pathLst>
              <a:path h="582148" w="589653">
                <a:moveTo>
                  <a:pt x="0" y="0"/>
                </a:moveTo>
                <a:lnTo>
                  <a:pt x="589652" y="0"/>
                </a:lnTo>
                <a:lnTo>
                  <a:pt x="589652" y="582148"/>
                </a:lnTo>
                <a:lnTo>
                  <a:pt x="0" y="582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744333">
            <a:off x="2493444" y="-1906190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0"/>
                </a:moveTo>
                <a:lnTo>
                  <a:pt x="3901440" y="0"/>
                </a:lnTo>
                <a:lnTo>
                  <a:pt x="3901440" y="2617511"/>
                </a:lnTo>
                <a:lnTo>
                  <a:pt x="0" y="26175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761627">
            <a:off x="7913425" y="5949143"/>
            <a:ext cx="1438324" cy="2340468"/>
          </a:xfrm>
          <a:custGeom>
            <a:avLst/>
            <a:gdLst/>
            <a:ahLst/>
            <a:cxnLst/>
            <a:rect r="r" b="b" t="t" l="l"/>
            <a:pathLst>
              <a:path h="2340468" w="1438324">
                <a:moveTo>
                  <a:pt x="0" y="0"/>
                </a:moveTo>
                <a:lnTo>
                  <a:pt x="1438324" y="0"/>
                </a:lnTo>
                <a:lnTo>
                  <a:pt x="1438324" y="2340468"/>
                </a:lnTo>
                <a:lnTo>
                  <a:pt x="0" y="23404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9681" y="3678555"/>
            <a:ext cx="10952963" cy="1846716"/>
            <a:chOff x="0" y="0"/>
            <a:chExt cx="14603951" cy="2462289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2419843" y="-2419843"/>
              <a:ext cx="2462289" cy="7301975"/>
            </a:xfrm>
            <a:custGeom>
              <a:avLst/>
              <a:gdLst/>
              <a:ahLst/>
              <a:cxnLst/>
              <a:rect r="r" b="b" t="t" l="l"/>
              <a:pathLst>
                <a:path h="7301975" w="2462289">
                  <a:moveTo>
                    <a:pt x="0" y="0"/>
                  </a:moveTo>
                  <a:lnTo>
                    <a:pt x="2462289" y="0"/>
                  </a:lnTo>
                  <a:lnTo>
                    <a:pt x="2462289" y="7301975"/>
                  </a:lnTo>
                  <a:lnTo>
                    <a:pt x="0" y="730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585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-5400000">
              <a:off x="9721819" y="-2419843"/>
              <a:ext cx="2462289" cy="7301975"/>
            </a:xfrm>
            <a:custGeom>
              <a:avLst/>
              <a:gdLst/>
              <a:ahLst/>
              <a:cxnLst/>
              <a:rect r="r" b="b" t="t" l="l"/>
              <a:pathLst>
                <a:path h="7301975" w="2462289">
                  <a:moveTo>
                    <a:pt x="0" y="7301975"/>
                  </a:moveTo>
                  <a:lnTo>
                    <a:pt x="2462288" y="7301975"/>
                  </a:lnTo>
                  <a:lnTo>
                    <a:pt x="2462288" y="0"/>
                  </a:lnTo>
                  <a:lnTo>
                    <a:pt x="0" y="0"/>
                  </a:lnTo>
                  <a:lnTo>
                    <a:pt x="0" y="730197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585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43784" y="4500221"/>
            <a:ext cx="10873244" cy="3190120"/>
            <a:chOff x="0" y="0"/>
            <a:chExt cx="4027127" cy="11815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27127" cy="1181526"/>
            </a:xfrm>
            <a:custGeom>
              <a:avLst/>
              <a:gdLst/>
              <a:ahLst/>
              <a:cxnLst/>
              <a:rect r="r" b="b" t="t" l="l"/>
              <a:pathLst>
                <a:path h="1181526" w="4027127">
                  <a:moveTo>
                    <a:pt x="25633" y="0"/>
                  </a:moveTo>
                  <a:lnTo>
                    <a:pt x="4001495" y="0"/>
                  </a:lnTo>
                  <a:cubicBezTo>
                    <a:pt x="4008293" y="0"/>
                    <a:pt x="4014813" y="2701"/>
                    <a:pt x="4019620" y="7508"/>
                  </a:cubicBezTo>
                  <a:cubicBezTo>
                    <a:pt x="4024427" y="12315"/>
                    <a:pt x="4027127" y="18834"/>
                    <a:pt x="4027127" y="25633"/>
                  </a:cubicBezTo>
                  <a:lnTo>
                    <a:pt x="4027127" y="1155893"/>
                  </a:lnTo>
                  <a:cubicBezTo>
                    <a:pt x="4027127" y="1162691"/>
                    <a:pt x="4024427" y="1169211"/>
                    <a:pt x="4019620" y="1174018"/>
                  </a:cubicBezTo>
                  <a:cubicBezTo>
                    <a:pt x="4014813" y="1178825"/>
                    <a:pt x="4008293" y="1181526"/>
                    <a:pt x="4001495" y="1181526"/>
                  </a:cubicBezTo>
                  <a:lnTo>
                    <a:pt x="25633" y="1181526"/>
                  </a:lnTo>
                  <a:cubicBezTo>
                    <a:pt x="18834" y="1181526"/>
                    <a:pt x="12315" y="1178825"/>
                    <a:pt x="7508" y="1174018"/>
                  </a:cubicBezTo>
                  <a:cubicBezTo>
                    <a:pt x="2701" y="1169211"/>
                    <a:pt x="0" y="1162691"/>
                    <a:pt x="0" y="1155893"/>
                  </a:cubicBezTo>
                  <a:lnTo>
                    <a:pt x="0" y="25633"/>
                  </a:lnTo>
                  <a:cubicBezTo>
                    <a:pt x="0" y="18834"/>
                    <a:pt x="2701" y="12315"/>
                    <a:pt x="7508" y="7508"/>
                  </a:cubicBezTo>
                  <a:cubicBezTo>
                    <a:pt x="12315" y="2701"/>
                    <a:pt x="18834" y="0"/>
                    <a:pt x="25633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27127" cy="121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6534" y="4774642"/>
            <a:ext cx="3716304" cy="442023"/>
            <a:chOff x="0" y="0"/>
            <a:chExt cx="1376409" cy="163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6409" cy="163712"/>
            </a:xfrm>
            <a:custGeom>
              <a:avLst/>
              <a:gdLst/>
              <a:ahLst/>
              <a:cxnLst/>
              <a:rect r="r" b="b" t="t" l="l"/>
              <a:pathLst>
                <a:path h="163712" w="1376409">
                  <a:moveTo>
                    <a:pt x="74996" y="0"/>
                  </a:moveTo>
                  <a:lnTo>
                    <a:pt x="1301413" y="0"/>
                  </a:lnTo>
                  <a:cubicBezTo>
                    <a:pt x="1342832" y="0"/>
                    <a:pt x="1376409" y="33577"/>
                    <a:pt x="1376409" y="74996"/>
                  </a:cubicBezTo>
                  <a:lnTo>
                    <a:pt x="1376409" y="88716"/>
                  </a:lnTo>
                  <a:cubicBezTo>
                    <a:pt x="1376409" y="130135"/>
                    <a:pt x="1342832" y="163712"/>
                    <a:pt x="1301413" y="163712"/>
                  </a:cubicBezTo>
                  <a:lnTo>
                    <a:pt x="74996" y="163712"/>
                  </a:lnTo>
                  <a:cubicBezTo>
                    <a:pt x="33577" y="163712"/>
                    <a:pt x="0" y="130135"/>
                    <a:pt x="0" y="88716"/>
                  </a:cubicBezTo>
                  <a:lnTo>
                    <a:pt x="0" y="74996"/>
                  </a:lnTo>
                  <a:cubicBezTo>
                    <a:pt x="0" y="33577"/>
                    <a:pt x="33577" y="0"/>
                    <a:pt x="749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76409" cy="20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Solway"/>
                  <a:ea typeface="Solway"/>
                  <a:cs typeface="Solway"/>
                  <a:sym typeface="Solway"/>
                </a:rPr>
                <a:t>Improve overall health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6534" y="5263554"/>
            <a:ext cx="3716304" cy="442023"/>
            <a:chOff x="0" y="0"/>
            <a:chExt cx="1376409" cy="163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6409" cy="163712"/>
            </a:xfrm>
            <a:custGeom>
              <a:avLst/>
              <a:gdLst/>
              <a:ahLst/>
              <a:cxnLst/>
              <a:rect r="r" b="b" t="t" l="l"/>
              <a:pathLst>
                <a:path h="163712" w="1376409">
                  <a:moveTo>
                    <a:pt x="74996" y="0"/>
                  </a:moveTo>
                  <a:lnTo>
                    <a:pt x="1301413" y="0"/>
                  </a:lnTo>
                  <a:cubicBezTo>
                    <a:pt x="1342832" y="0"/>
                    <a:pt x="1376409" y="33577"/>
                    <a:pt x="1376409" y="74996"/>
                  </a:cubicBezTo>
                  <a:lnTo>
                    <a:pt x="1376409" y="88716"/>
                  </a:lnTo>
                  <a:cubicBezTo>
                    <a:pt x="1376409" y="130135"/>
                    <a:pt x="1342832" y="163712"/>
                    <a:pt x="1301413" y="163712"/>
                  </a:cubicBezTo>
                  <a:lnTo>
                    <a:pt x="74996" y="163712"/>
                  </a:lnTo>
                  <a:cubicBezTo>
                    <a:pt x="33577" y="163712"/>
                    <a:pt x="0" y="130135"/>
                    <a:pt x="0" y="88716"/>
                  </a:cubicBezTo>
                  <a:lnTo>
                    <a:pt x="0" y="74996"/>
                  </a:lnTo>
                  <a:cubicBezTo>
                    <a:pt x="0" y="33577"/>
                    <a:pt x="33577" y="0"/>
                    <a:pt x="749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76409" cy="20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Solway"/>
                  <a:ea typeface="Solway"/>
                  <a:cs typeface="Solway"/>
                  <a:sym typeface="Solway"/>
                </a:rPr>
                <a:t>Reduce stress and burnout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6534" y="5753202"/>
            <a:ext cx="3716304" cy="830478"/>
            <a:chOff x="0" y="0"/>
            <a:chExt cx="1376409" cy="3075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6409" cy="307585"/>
            </a:xfrm>
            <a:custGeom>
              <a:avLst/>
              <a:gdLst/>
              <a:ahLst/>
              <a:cxnLst/>
              <a:rect r="r" b="b" t="t" l="l"/>
              <a:pathLst>
                <a:path h="307585" w="1376409">
                  <a:moveTo>
                    <a:pt x="74996" y="0"/>
                  </a:moveTo>
                  <a:lnTo>
                    <a:pt x="1301413" y="0"/>
                  </a:lnTo>
                  <a:cubicBezTo>
                    <a:pt x="1342832" y="0"/>
                    <a:pt x="1376409" y="33577"/>
                    <a:pt x="1376409" y="74996"/>
                  </a:cubicBezTo>
                  <a:lnTo>
                    <a:pt x="1376409" y="232588"/>
                  </a:lnTo>
                  <a:cubicBezTo>
                    <a:pt x="1376409" y="274008"/>
                    <a:pt x="1342832" y="307585"/>
                    <a:pt x="1301413" y="307585"/>
                  </a:cubicBezTo>
                  <a:lnTo>
                    <a:pt x="74996" y="307585"/>
                  </a:lnTo>
                  <a:cubicBezTo>
                    <a:pt x="33577" y="307585"/>
                    <a:pt x="0" y="274008"/>
                    <a:pt x="0" y="232588"/>
                  </a:cubicBezTo>
                  <a:lnTo>
                    <a:pt x="0" y="74996"/>
                  </a:lnTo>
                  <a:cubicBezTo>
                    <a:pt x="0" y="33577"/>
                    <a:pt x="33577" y="0"/>
                    <a:pt x="749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76409" cy="345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Solway"/>
                  <a:ea typeface="Solway"/>
                  <a:cs typeface="Solway"/>
                  <a:sym typeface="Solway"/>
                </a:rPr>
                <a:t>Enhance productivity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Solway"/>
                  <a:ea typeface="Solway"/>
                  <a:cs typeface="Solway"/>
                  <a:sym typeface="Solway"/>
                </a:rPr>
                <a:t>and job satisfaction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-1087889">
            <a:off x="8053840" y="3449989"/>
            <a:ext cx="2707926" cy="1654297"/>
          </a:xfrm>
          <a:custGeom>
            <a:avLst/>
            <a:gdLst/>
            <a:ahLst/>
            <a:cxnLst/>
            <a:rect r="r" b="b" t="t" l="l"/>
            <a:pathLst>
              <a:path h="1654297" w="2707926">
                <a:moveTo>
                  <a:pt x="2707926" y="0"/>
                </a:moveTo>
                <a:lnTo>
                  <a:pt x="0" y="0"/>
                </a:lnTo>
                <a:lnTo>
                  <a:pt x="0" y="1654297"/>
                </a:lnTo>
                <a:lnTo>
                  <a:pt x="2707926" y="1654297"/>
                </a:lnTo>
                <a:lnTo>
                  <a:pt x="270792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947086">
            <a:off x="8228743" y="75312"/>
            <a:ext cx="3605510" cy="2628744"/>
          </a:xfrm>
          <a:custGeom>
            <a:avLst/>
            <a:gdLst/>
            <a:ahLst/>
            <a:cxnLst/>
            <a:rect r="r" b="b" t="t" l="l"/>
            <a:pathLst>
              <a:path h="2628744" w="3605510">
                <a:moveTo>
                  <a:pt x="3605510" y="0"/>
                </a:moveTo>
                <a:lnTo>
                  <a:pt x="0" y="0"/>
                </a:lnTo>
                <a:lnTo>
                  <a:pt x="0" y="2628745"/>
                </a:lnTo>
                <a:lnTo>
                  <a:pt x="3605510" y="2628745"/>
                </a:lnTo>
                <a:lnTo>
                  <a:pt x="36055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406975" y="1767758"/>
            <a:ext cx="3254760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A structured initiative designed to promote physical, mental, and emotional well-being among employees or participants.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6534" y="883920"/>
            <a:ext cx="3900266" cy="261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56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What is a Health and Wellness Program?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99506" y="1331513"/>
            <a:ext cx="170686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Definition: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6534" y="4268172"/>
            <a:ext cx="1706863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Objectives: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06975" y="5159277"/>
            <a:ext cx="1923289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Components: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99506" y="5648325"/>
            <a:ext cx="325476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Physical fitness, mental health support, nutrition, and lifestyle management.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1293712">
            <a:off x="-3514386" y="2069224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0"/>
                </a:moveTo>
                <a:lnTo>
                  <a:pt x="3901440" y="0"/>
                </a:lnTo>
                <a:lnTo>
                  <a:pt x="3901440" y="2617511"/>
                </a:lnTo>
                <a:lnTo>
                  <a:pt x="0" y="2617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568838" y="4277137"/>
            <a:ext cx="589653" cy="582148"/>
          </a:xfrm>
          <a:custGeom>
            <a:avLst/>
            <a:gdLst/>
            <a:ahLst/>
            <a:cxnLst/>
            <a:rect r="r" b="b" t="t" l="l"/>
            <a:pathLst>
              <a:path h="582148" w="589653">
                <a:moveTo>
                  <a:pt x="0" y="0"/>
                </a:moveTo>
                <a:lnTo>
                  <a:pt x="589652" y="0"/>
                </a:lnTo>
                <a:lnTo>
                  <a:pt x="589652" y="582148"/>
                </a:lnTo>
                <a:lnTo>
                  <a:pt x="0" y="582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8" y="2884631"/>
            <a:ext cx="3921007" cy="2049793"/>
            <a:chOff x="0" y="0"/>
            <a:chExt cx="1452225" cy="759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2225" cy="759183"/>
            </a:xfrm>
            <a:custGeom>
              <a:avLst/>
              <a:gdLst/>
              <a:ahLst/>
              <a:cxnLst/>
              <a:rect r="r" b="b" t="t" l="l"/>
              <a:pathLst>
                <a:path h="759183" w="1452225">
                  <a:moveTo>
                    <a:pt x="71081" y="0"/>
                  </a:moveTo>
                  <a:lnTo>
                    <a:pt x="1381144" y="0"/>
                  </a:lnTo>
                  <a:cubicBezTo>
                    <a:pt x="1399996" y="0"/>
                    <a:pt x="1418076" y="7489"/>
                    <a:pt x="1431406" y="20819"/>
                  </a:cubicBezTo>
                  <a:cubicBezTo>
                    <a:pt x="1444736" y="34149"/>
                    <a:pt x="1452225" y="52229"/>
                    <a:pt x="1452225" y="71081"/>
                  </a:cubicBezTo>
                  <a:lnTo>
                    <a:pt x="1452225" y="688102"/>
                  </a:lnTo>
                  <a:cubicBezTo>
                    <a:pt x="1452225" y="727359"/>
                    <a:pt x="1420401" y="759183"/>
                    <a:pt x="1381144" y="759183"/>
                  </a:cubicBezTo>
                  <a:lnTo>
                    <a:pt x="71081" y="759183"/>
                  </a:lnTo>
                  <a:cubicBezTo>
                    <a:pt x="52229" y="759183"/>
                    <a:pt x="34149" y="751694"/>
                    <a:pt x="20819" y="738364"/>
                  </a:cubicBezTo>
                  <a:cubicBezTo>
                    <a:pt x="7489" y="725033"/>
                    <a:pt x="0" y="706954"/>
                    <a:pt x="0" y="688102"/>
                  </a:cubicBezTo>
                  <a:lnTo>
                    <a:pt x="0" y="71081"/>
                  </a:lnTo>
                  <a:cubicBezTo>
                    <a:pt x="0" y="52229"/>
                    <a:pt x="7489" y="34149"/>
                    <a:pt x="20819" y="20819"/>
                  </a:cubicBezTo>
                  <a:cubicBezTo>
                    <a:pt x="34149" y="7489"/>
                    <a:pt x="52229" y="0"/>
                    <a:pt x="71081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52225" cy="797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71255" y="2884631"/>
            <a:ext cx="3921007" cy="2049793"/>
            <a:chOff x="0" y="0"/>
            <a:chExt cx="1452225" cy="7591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2225" cy="759183"/>
            </a:xfrm>
            <a:custGeom>
              <a:avLst/>
              <a:gdLst/>
              <a:ahLst/>
              <a:cxnLst/>
              <a:rect r="r" b="b" t="t" l="l"/>
              <a:pathLst>
                <a:path h="759183" w="1452225">
                  <a:moveTo>
                    <a:pt x="71081" y="0"/>
                  </a:moveTo>
                  <a:lnTo>
                    <a:pt x="1381144" y="0"/>
                  </a:lnTo>
                  <a:cubicBezTo>
                    <a:pt x="1399996" y="0"/>
                    <a:pt x="1418076" y="7489"/>
                    <a:pt x="1431406" y="20819"/>
                  </a:cubicBezTo>
                  <a:cubicBezTo>
                    <a:pt x="1444736" y="34149"/>
                    <a:pt x="1452225" y="52229"/>
                    <a:pt x="1452225" y="71081"/>
                  </a:cubicBezTo>
                  <a:lnTo>
                    <a:pt x="1452225" y="688102"/>
                  </a:lnTo>
                  <a:cubicBezTo>
                    <a:pt x="1452225" y="727359"/>
                    <a:pt x="1420401" y="759183"/>
                    <a:pt x="1381144" y="759183"/>
                  </a:cubicBezTo>
                  <a:lnTo>
                    <a:pt x="71081" y="759183"/>
                  </a:lnTo>
                  <a:cubicBezTo>
                    <a:pt x="52229" y="759183"/>
                    <a:pt x="34149" y="751694"/>
                    <a:pt x="20819" y="738364"/>
                  </a:cubicBezTo>
                  <a:cubicBezTo>
                    <a:pt x="7489" y="725033"/>
                    <a:pt x="0" y="706954"/>
                    <a:pt x="0" y="688102"/>
                  </a:cubicBezTo>
                  <a:lnTo>
                    <a:pt x="0" y="71081"/>
                  </a:lnTo>
                  <a:cubicBezTo>
                    <a:pt x="0" y="52229"/>
                    <a:pt x="7489" y="34149"/>
                    <a:pt x="20819" y="20819"/>
                  </a:cubicBezTo>
                  <a:cubicBezTo>
                    <a:pt x="34149" y="7489"/>
                    <a:pt x="52229" y="0"/>
                    <a:pt x="71081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52225" cy="797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02326" y="845820"/>
            <a:ext cx="6148949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48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Benefits of Health and Wellness Programs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599681" y="6810414"/>
            <a:ext cx="10952963" cy="1846716"/>
            <a:chOff x="0" y="0"/>
            <a:chExt cx="14603951" cy="2462289"/>
          </a:xfrm>
        </p:grpSpPr>
        <p:sp>
          <p:nvSpPr>
            <p:cNvPr name="Freeform 10" id="10"/>
            <p:cNvSpPr/>
            <p:nvPr/>
          </p:nvSpPr>
          <p:spPr>
            <a:xfrm flipH="false" flipV="false" rot="-5400000">
              <a:off x="2419843" y="-2419843"/>
              <a:ext cx="2462289" cy="7301975"/>
            </a:xfrm>
            <a:custGeom>
              <a:avLst/>
              <a:gdLst/>
              <a:ahLst/>
              <a:cxnLst/>
              <a:rect r="r" b="b" t="t" l="l"/>
              <a:pathLst>
                <a:path h="7301975" w="2462289">
                  <a:moveTo>
                    <a:pt x="0" y="0"/>
                  </a:moveTo>
                  <a:lnTo>
                    <a:pt x="2462289" y="0"/>
                  </a:lnTo>
                  <a:lnTo>
                    <a:pt x="2462289" y="7301975"/>
                  </a:lnTo>
                  <a:lnTo>
                    <a:pt x="0" y="730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5852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true" rot="-5400000">
              <a:off x="9721819" y="-2419843"/>
              <a:ext cx="2462289" cy="7301975"/>
            </a:xfrm>
            <a:custGeom>
              <a:avLst/>
              <a:gdLst/>
              <a:ahLst/>
              <a:cxnLst/>
              <a:rect r="r" b="b" t="t" l="l"/>
              <a:pathLst>
                <a:path h="7301975" w="2462289">
                  <a:moveTo>
                    <a:pt x="0" y="7301975"/>
                  </a:moveTo>
                  <a:lnTo>
                    <a:pt x="2462288" y="7301975"/>
                  </a:lnTo>
                  <a:lnTo>
                    <a:pt x="2462288" y="0"/>
                  </a:lnTo>
                  <a:lnTo>
                    <a:pt x="0" y="0"/>
                  </a:lnTo>
                  <a:lnTo>
                    <a:pt x="0" y="730197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5852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7295450">
            <a:off x="7450883" y="-1096145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0"/>
                </a:moveTo>
                <a:lnTo>
                  <a:pt x="3901440" y="0"/>
                </a:lnTo>
                <a:lnTo>
                  <a:pt x="3901440" y="2617511"/>
                </a:lnTo>
                <a:lnTo>
                  <a:pt x="0" y="2617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89763" y="2447451"/>
            <a:ext cx="246415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Physical Health: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7375" y="3108475"/>
            <a:ext cx="3268934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Reduces risk of chronic diseases (e.g., heart disease, diabetes)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Promotes healthy weight and physical fitness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79011" y="2447451"/>
            <a:ext cx="246415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Mental Health: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58820" y="3265637"/>
            <a:ext cx="294587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Reduces stress and anxiety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Improves mood and mental clarity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0247" y="5614074"/>
            <a:ext cx="1771594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Workplace Benefits: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35045" y="5530254"/>
            <a:ext cx="274951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Increased employee engagement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32007" y="5530254"/>
            <a:ext cx="306580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Reduced absenteeism and healthcare costs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92549" y="893836"/>
            <a:ext cx="589653" cy="582148"/>
          </a:xfrm>
          <a:custGeom>
            <a:avLst/>
            <a:gdLst/>
            <a:ahLst/>
            <a:cxnLst/>
            <a:rect r="r" b="b" t="t" l="l"/>
            <a:pathLst>
              <a:path h="582148" w="589653">
                <a:moveTo>
                  <a:pt x="0" y="0"/>
                </a:moveTo>
                <a:lnTo>
                  <a:pt x="589652" y="0"/>
                </a:lnTo>
                <a:lnTo>
                  <a:pt x="589652" y="582148"/>
                </a:lnTo>
                <a:lnTo>
                  <a:pt x="0" y="582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6459191">
            <a:off x="-973721" y="3501969"/>
            <a:ext cx="1721130" cy="2800656"/>
          </a:xfrm>
          <a:custGeom>
            <a:avLst/>
            <a:gdLst/>
            <a:ahLst/>
            <a:cxnLst/>
            <a:rect r="r" b="b" t="t" l="l"/>
            <a:pathLst>
              <a:path h="2800656" w="1721130">
                <a:moveTo>
                  <a:pt x="0" y="0"/>
                </a:moveTo>
                <a:lnTo>
                  <a:pt x="1721131" y="0"/>
                </a:lnTo>
                <a:lnTo>
                  <a:pt x="1721131" y="2800656"/>
                </a:lnTo>
                <a:lnTo>
                  <a:pt x="0" y="2800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6779" y="2810001"/>
            <a:ext cx="3704581" cy="1465443"/>
            <a:chOff x="0" y="0"/>
            <a:chExt cx="1372067" cy="542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067" cy="542757"/>
            </a:xfrm>
            <a:custGeom>
              <a:avLst/>
              <a:gdLst/>
              <a:ahLst/>
              <a:cxnLst/>
              <a:rect r="r" b="b" t="t" l="l"/>
              <a:pathLst>
                <a:path h="542757" w="1372067">
                  <a:moveTo>
                    <a:pt x="75234" y="0"/>
                  </a:moveTo>
                  <a:lnTo>
                    <a:pt x="1296833" y="0"/>
                  </a:lnTo>
                  <a:cubicBezTo>
                    <a:pt x="1338384" y="0"/>
                    <a:pt x="1372067" y="33683"/>
                    <a:pt x="1372067" y="75234"/>
                  </a:cubicBezTo>
                  <a:lnTo>
                    <a:pt x="1372067" y="467523"/>
                  </a:lnTo>
                  <a:cubicBezTo>
                    <a:pt x="1372067" y="509073"/>
                    <a:pt x="1338384" y="542757"/>
                    <a:pt x="1296833" y="542757"/>
                  </a:cubicBezTo>
                  <a:lnTo>
                    <a:pt x="75234" y="542757"/>
                  </a:lnTo>
                  <a:cubicBezTo>
                    <a:pt x="33683" y="542757"/>
                    <a:pt x="0" y="509073"/>
                    <a:pt x="0" y="467523"/>
                  </a:cubicBezTo>
                  <a:lnTo>
                    <a:pt x="0" y="75234"/>
                  </a:lnTo>
                  <a:cubicBezTo>
                    <a:pt x="0" y="33683"/>
                    <a:pt x="33683" y="0"/>
                    <a:pt x="75234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2067" cy="5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6779" y="4901811"/>
            <a:ext cx="3704581" cy="1465443"/>
            <a:chOff x="0" y="0"/>
            <a:chExt cx="1372067" cy="5427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2067" cy="542757"/>
            </a:xfrm>
            <a:custGeom>
              <a:avLst/>
              <a:gdLst/>
              <a:ahLst/>
              <a:cxnLst/>
              <a:rect r="r" b="b" t="t" l="l"/>
              <a:pathLst>
                <a:path h="542757" w="1372067">
                  <a:moveTo>
                    <a:pt x="75234" y="0"/>
                  </a:moveTo>
                  <a:lnTo>
                    <a:pt x="1296833" y="0"/>
                  </a:lnTo>
                  <a:cubicBezTo>
                    <a:pt x="1338384" y="0"/>
                    <a:pt x="1372067" y="33683"/>
                    <a:pt x="1372067" y="75234"/>
                  </a:cubicBezTo>
                  <a:lnTo>
                    <a:pt x="1372067" y="467523"/>
                  </a:lnTo>
                  <a:cubicBezTo>
                    <a:pt x="1372067" y="509073"/>
                    <a:pt x="1338384" y="542757"/>
                    <a:pt x="1296833" y="542757"/>
                  </a:cubicBezTo>
                  <a:lnTo>
                    <a:pt x="75234" y="542757"/>
                  </a:lnTo>
                  <a:cubicBezTo>
                    <a:pt x="33683" y="542757"/>
                    <a:pt x="0" y="509073"/>
                    <a:pt x="0" y="467523"/>
                  </a:cubicBezTo>
                  <a:lnTo>
                    <a:pt x="0" y="75234"/>
                  </a:lnTo>
                  <a:cubicBezTo>
                    <a:pt x="0" y="33683"/>
                    <a:pt x="33683" y="0"/>
                    <a:pt x="75234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72067" cy="5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32240" y="2780139"/>
            <a:ext cx="3704581" cy="1465443"/>
            <a:chOff x="0" y="0"/>
            <a:chExt cx="1372067" cy="5427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2067" cy="542757"/>
            </a:xfrm>
            <a:custGeom>
              <a:avLst/>
              <a:gdLst/>
              <a:ahLst/>
              <a:cxnLst/>
              <a:rect r="r" b="b" t="t" l="l"/>
              <a:pathLst>
                <a:path h="542757" w="1372067">
                  <a:moveTo>
                    <a:pt x="75234" y="0"/>
                  </a:moveTo>
                  <a:lnTo>
                    <a:pt x="1296833" y="0"/>
                  </a:lnTo>
                  <a:cubicBezTo>
                    <a:pt x="1338384" y="0"/>
                    <a:pt x="1372067" y="33683"/>
                    <a:pt x="1372067" y="75234"/>
                  </a:cubicBezTo>
                  <a:lnTo>
                    <a:pt x="1372067" y="467523"/>
                  </a:lnTo>
                  <a:cubicBezTo>
                    <a:pt x="1372067" y="509073"/>
                    <a:pt x="1338384" y="542757"/>
                    <a:pt x="1296833" y="542757"/>
                  </a:cubicBezTo>
                  <a:lnTo>
                    <a:pt x="75234" y="542757"/>
                  </a:lnTo>
                  <a:cubicBezTo>
                    <a:pt x="33683" y="542757"/>
                    <a:pt x="0" y="509073"/>
                    <a:pt x="0" y="467523"/>
                  </a:cubicBezTo>
                  <a:lnTo>
                    <a:pt x="0" y="75234"/>
                  </a:lnTo>
                  <a:cubicBezTo>
                    <a:pt x="0" y="33683"/>
                    <a:pt x="33683" y="0"/>
                    <a:pt x="75234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72067" cy="5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32240" y="4871949"/>
            <a:ext cx="3704581" cy="1465443"/>
            <a:chOff x="0" y="0"/>
            <a:chExt cx="1372067" cy="5427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2067" cy="542757"/>
            </a:xfrm>
            <a:custGeom>
              <a:avLst/>
              <a:gdLst/>
              <a:ahLst/>
              <a:cxnLst/>
              <a:rect r="r" b="b" t="t" l="l"/>
              <a:pathLst>
                <a:path h="542757" w="1372067">
                  <a:moveTo>
                    <a:pt x="75234" y="0"/>
                  </a:moveTo>
                  <a:lnTo>
                    <a:pt x="1296833" y="0"/>
                  </a:lnTo>
                  <a:cubicBezTo>
                    <a:pt x="1338384" y="0"/>
                    <a:pt x="1372067" y="33683"/>
                    <a:pt x="1372067" y="75234"/>
                  </a:cubicBezTo>
                  <a:lnTo>
                    <a:pt x="1372067" y="467523"/>
                  </a:lnTo>
                  <a:cubicBezTo>
                    <a:pt x="1372067" y="509073"/>
                    <a:pt x="1338384" y="542757"/>
                    <a:pt x="1296833" y="542757"/>
                  </a:cubicBezTo>
                  <a:lnTo>
                    <a:pt x="75234" y="542757"/>
                  </a:lnTo>
                  <a:cubicBezTo>
                    <a:pt x="33683" y="542757"/>
                    <a:pt x="0" y="509073"/>
                    <a:pt x="0" y="467523"/>
                  </a:cubicBezTo>
                  <a:lnTo>
                    <a:pt x="0" y="75234"/>
                  </a:lnTo>
                  <a:cubicBezTo>
                    <a:pt x="0" y="33683"/>
                    <a:pt x="33683" y="0"/>
                    <a:pt x="75234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72067" cy="5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362814" y="6031148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0"/>
                </a:moveTo>
                <a:lnTo>
                  <a:pt x="3901440" y="0"/>
                </a:lnTo>
                <a:lnTo>
                  <a:pt x="3901440" y="2617512"/>
                </a:lnTo>
                <a:lnTo>
                  <a:pt x="0" y="2617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485945">
            <a:off x="-752546" y="-385396"/>
            <a:ext cx="1798209" cy="2926080"/>
          </a:xfrm>
          <a:custGeom>
            <a:avLst/>
            <a:gdLst/>
            <a:ahLst/>
            <a:cxnLst/>
            <a:rect r="r" b="b" t="t" l="l"/>
            <a:pathLst>
              <a:path h="2926080" w="1798209">
                <a:moveTo>
                  <a:pt x="0" y="0"/>
                </a:moveTo>
                <a:lnTo>
                  <a:pt x="1798209" y="0"/>
                </a:lnTo>
                <a:lnTo>
                  <a:pt x="1798209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147169" y="1077644"/>
            <a:ext cx="589653" cy="582148"/>
          </a:xfrm>
          <a:custGeom>
            <a:avLst/>
            <a:gdLst/>
            <a:ahLst/>
            <a:cxnLst/>
            <a:rect r="r" b="b" t="t" l="l"/>
            <a:pathLst>
              <a:path h="582148" w="589653">
                <a:moveTo>
                  <a:pt x="0" y="0"/>
                </a:moveTo>
                <a:lnTo>
                  <a:pt x="589652" y="0"/>
                </a:lnTo>
                <a:lnTo>
                  <a:pt x="589652" y="582148"/>
                </a:lnTo>
                <a:lnTo>
                  <a:pt x="0" y="582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94113" y="855345"/>
            <a:ext cx="6365375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48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Components of a Successful Program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6846" y="2448291"/>
            <a:ext cx="2204446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21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Fitness Programs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1173" y="3033845"/>
            <a:ext cx="309579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On-site gym, fitness classes, or subsidized gym memberships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66846" y="4540101"/>
            <a:ext cx="2204446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21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Nutrition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1173" y="5125655"/>
            <a:ext cx="309579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Healthy eating workshops, access to nutritious snacks, or meal plans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46847" y="2418429"/>
            <a:ext cx="287536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21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Mental Health Support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36634" y="3003984"/>
            <a:ext cx="309579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Counseling services, stress management workshops, and mindfulness programs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46847" y="4510239"/>
            <a:ext cx="287536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21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Lifestyle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95259" y="5095793"/>
            <a:ext cx="337854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Work-life balance initiatives, flexible work hours, and ergonomic workspaces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87787" y="2135211"/>
            <a:ext cx="10952963" cy="1846716"/>
            <a:chOff x="0" y="0"/>
            <a:chExt cx="14603951" cy="2462289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2419843" y="-2419843"/>
              <a:ext cx="2462289" cy="7301975"/>
            </a:xfrm>
            <a:custGeom>
              <a:avLst/>
              <a:gdLst/>
              <a:ahLst/>
              <a:cxnLst/>
              <a:rect r="r" b="b" t="t" l="l"/>
              <a:pathLst>
                <a:path h="7301975" w="2462289">
                  <a:moveTo>
                    <a:pt x="0" y="0"/>
                  </a:moveTo>
                  <a:lnTo>
                    <a:pt x="2462289" y="0"/>
                  </a:lnTo>
                  <a:lnTo>
                    <a:pt x="2462289" y="7301975"/>
                  </a:lnTo>
                  <a:lnTo>
                    <a:pt x="0" y="730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585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-5400000">
              <a:off x="9721819" y="-2419843"/>
              <a:ext cx="2462289" cy="7301975"/>
            </a:xfrm>
            <a:custGeom>
              <a:avLst/>
              <a:gdLst/>
              <a:ahLst/>
              <a:cxnLst/>
              <a:rect r="r" b="b" t="t" l="l"/>
              <a:pathLst>
                <a:path h="7301975" w="2462289">
                  <a:moveTo>
                    <a:pt x="0" y="7301975"/>
                  </a:moveTo>
                  <a:lnTo>
                    <a:pt x="2462288" y="7301975"/>
                  </a:lnTo>
                  <a:lnTo>
                    <a:pt x="2462288" y="0"/>
                  </a:lnTo>
                  <a:lnTo>
                    <a:pt x="0" y="0"/>
                  </a:lnTo>
                  <a:lnTo>
                    <a:pt x="0" y="730197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585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3461670" y="1196428"/>
            <a:ext cx="8507264" cy="4856600"/>
            <a:chOff x="0" y="0"/>
            <a:chExt cx="3150838" cy="17987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50838" cy="1798741"/>
            </a:xfrm>
            <a:custGeom>
              <a:avLst/>
              <a:gdLst/>
              <a:ahLst/>
              <a:cxnLst/>
              <a:rect r="r" b="b" t="t" l="l"/>
              <a:pathLst>
                <a:path h="1798741" w="3150838">
                  <a:moveTo>
                    <a:pt x="32761" y="0"/>
                  </a:moveTo>
                  <a:lnTo>
                    <a:pt x="3118077" y="0"/>
                  </a:lnTo>
                  <a:cubicBezTo>
                    <a:pt x="3126766" y="0"/>
                    <a:pt x="3135099" y="3452"/>
                    <a:pt x="3141243" y="9596"/>
                  </a:cubicBezTo>
                  <a:cubicBezTo>
                    <a:pt x="3147387" y="15740"/>
                    <a:pt x="3150838" y="24072"/>
                    <a:pt x="3150838" y="32761"/>
                  </a:cubicBezTo>
                  <a:lnTo>
                    <a:pt x="3150838" y="1765979"/>
                  </a:lnTo>
                  <a:cubicBezTo>
                    <a:pt x="3150838" y="1784073"/>
                    <a:pt x="3136171" y="1798741"/>
                    <a:pt x="3118077" y="1798741"/>
                  </a:cubicBezTo>
                  <a:lnTo>
                    <a:pt x="32761" y="1798741"/>
                  </a:lnTo>
                  <a:cubicBezTo>
                    <a:pt x="24072" y="1798741"/>
                    <a:pt x="15740" y="1795289"/>
                    <a:pt x="9596" y="1789145"/>
                  </a:cubicBezTo>
                  <a:cubicBezTo>
                    <a:pt x="3452" y="1783001"/>
                    <a:pt x="0" y="1774668"/>
                    <a:pt x="0" y="1765979"/>
                  </a:cubicBezTo>
                  <a:lnTo>
                    <a:pt x="0" y="32761"/>
                  </a:lnTo>
                  <a:cubicBezTo>
                    <a:pt x="0" y="24072"/>
                    <a:pt x="3452" y="15740"/>
                    <a:pt x="9596" y="9596"/>
                  </a:cubicBezTo>
                  <a:cubicBezTo>
                    <a:pt x="15740" y="3452"/>
                    <a:pt x="24072" y="0"/>
                    <a:pt x="32761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50838" cy="183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77371">
            <a:off x="1168308" y="4493315"/>
            <a:ext cx="1184619" cy="1927635"/>
          </a:xfrm>
          <a:custGeom>
            <a:avLst/>
            <a:gdLst/>
            <a:ahLst/>
            <a:cxnLst/>
            <a:rect r="r" b="b" t="t" l="l"/>
            <a:pathLst>
              <a:path h="1927635" w="1184619">
                <a:moveTo>
                  <a:pt x="0" y="0"/>
                </a:moveTo>
                <a:lnTo>
                  <a:pt x="1184619" y="0"/>
                </a:lnTo>
                <a:lnTo>
                  <a:pt x="1184619" y="1927635"/>
                </a:lnTo>
                <a:lnTo>
                  <a:pt x="0" y="1927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711332">
            <a:off x="2581379" y="4313068"/>
            <a:ext cx="1860943" cy="818815"/>
          </a:xfrm>
          <a:custGeom>
            <a:avLst/>
            <a:gdLst/>
            <a:ahLst/>
            <a:cxnLst/>
            <a:rect r="r" b="b" t="t" l="l"/>
            <a:pathLst>
              <a:path h="818815" w="1860943">
                <a:moveTo>
                  <a:pt x="0" y="0"/>
                </a:moveTo>
                <a:lnTo>
                  <a:pt x="1860943" y="0"/>
                </a:lnTo>
                <a:lnTo>
                  <a:pt x="1860943" y="818815"/>
                </a:lnTo>
                <a:lnTo>
                  <a:pt x="0" y="818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6477" y="1136699"/>
            <a:ext cx="2944619" cy="223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8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Creating a Health and Wellness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88695" y="965249"/>
            <a:ext cx="173126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21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Assessment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88695" y="1247063"/>
            <a:ext cx="3265461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Conduct needs assessment surveys to understand participants' health needs and interests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88695" y="2877932"/>
            <a:ext cx="1752994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21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Goal Setting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88695" y="3157967"/>
            <a:ext cx="363338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Set clear, achievable goals for health and wellness outcomes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88695" y="4136745"/>
            <a:ext cx="232660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21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Program Design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88695" y="4416780"/>
            <a:ext cx="363338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Develop a structured plan with specific activities and resources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88695" y="5418810"/>
            <a:ext cx="232660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21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Implementation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88695" y="5698845"/>
            <a:ext cx="363338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Launch the program and ensure access to all participants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2218330">
            <a:off x="-255538" y="7051527"/>
            <a:ext cx="4175678" cy="2801500"/>
          </a:xfrm>
          <a:custGeom>
            <a:avLst/>
            <a:gdLst/>
            <a:ahLst/>
            <a:cxnLst/>
            <a:rect r="r" b="b" t="t" l="l"/>
            <a:pathLst>
              <a:path h="2801500" w="4175678">
                <a:moveTo>
                  <a:pt x="0" y="0"/>
                </a:moveTo>
                <a:lnTo>
                  <a:pt x="4175678" y="0"/>
                </a:lnTo>
                <a:lnTo>
                  <a:pt x="4175678" y="2801500"/>
                </a:lnTo>
                <a:lnTo>
                  <a:pt x="0" y="280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195832" y="3778997"/>
            <a:ext cx="589653" cy="582148"/>
          </a:xfrm>
          <a:custGeom>
            <a:avLst/>
            <a:gdLst/>
            <a:ahLst/>
            <a:cxnLst/>
            <a:rect r="r" b="b" t="t" l="l"/>
            <a:pathLst>
              <a:path h="582148" w="589653">
                <a:moveTo>
                  <a:pt x="0" y="0"/>
                </a:moveTo>
                <a:lnTo>
                  <a:pt x="589652" y="0"/>
                </a:lnTo>
                <a:lnTo>
                  <a:pt x="589652" y="582147"/>
                </a:lnTo>
                <a:lnTo>
                  <a:pt x="0" y="582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6574444">
            <a:off x="9244498" y="-731520"/>
            <a:ext cx="1798209" cy="2926080"/>
          </a:xfrm>
          <a:custGeom>
            <a:avLst/>
            <a:gdLst/>
            <a:ahLst/>
            <a:cxnLst/>
            <a:rect r="r" b="b" t="t" l="l"/>
            <a:pathLst>
              <a:path h="2926080" w="1798209">
                <a:moveTo>
                  <a:pt x="0" y="0"/>
                </a:moveTo>
                <a:lnTo>
                  <a:pt x="1798209" y="0"/>
                </a:lnTo>
                <a:lnTo>
                  <a:pt x="1798209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3679" y="1291687"/>
            <a:ext cx="5586241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Encouraging Participation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1520" y="3127724"/>
            <a:ext cx="25142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Communication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31520" y="3675705"/>
            <a:ext cx="2514238" cy="2677429"/>
            <a:chOff x="0" y="0"/>
            <a:chExt cx="931199" cy="991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1199" cy="991640"/>
            </a:xfrm>
            <a:custGeom>
              <a:avLst/>
              <a:gdLst/>
              <a:ahLst/>
              <a:cxnLst/>
              <a:rect r="r" b="b" t="t" l="l"/>
              <a:pathLst>
                <a:path h="991640" w="931199">
                  <a:moveTo>
                    <a:pt x="110852" y="0"/>
                  </a:moveTo>
                  <a:lnTo>
                    <a:pt x="820347" y="0"/>
                  </a:lnTo>
                  <a:cubicBezTo>
                    <a:pt x="881569" y="0"/>
                    <a:pt x="931199" y="49630"/>
                    <a:pt x="931199" y="110852"/>
                  </a:cubicBezTo>
                  <a:lnTo>
                    <a:pt x="931199" y="880788"/>
                  </a:lnTo>
                  <a:cubicBezTo>
                    <a:pt x="931199" y="910188"/>
                    <a:pt x="919520" y="938384"/>
                    <a:pt x="898731" y="959172"/>
                  </a:cubicBezTo>
                  <a:cubicBezTo>
                    <a:pt x="877943" y="979961"/>
                    <a:pt x="849747" y="991640"/>
                    <a:pt x="820347" y="991640"/>
                  </a:cubicBezTo>
                  <a:lnTo>
                    <a:pt x="110852" y="991640"/>
                  </a:lnTo>
                  <a:cubicBezTo>
                    <a:pt x="81452" y="991640"/>
                    <a:pt x="53257" y="979961"/>
                    <a:pt x="32468" y="959172"/>
                  </a:cubicBezTo>
                  <a:cubicBezTo>
                    <a:pt x="11679" y="938384"/>
                    <a:pt x="0" y="910188"/>
                    <a:pt x="0" y="880788"/>
                  </a:cubicBezTo>
                  <a:lnTo>
                    <a:pt x="0" y="110852"/>
                  </a:lnTo>
                  <a:cubicBezTo>
                    <a:pt x="0" y="81452"/>
                    <a:pt x="11679" y="53257"/>
                    <a:pt x="32468" y="32468"/>
                  </a:cubicBezTo>
                  <a:cubicBezTo>
                    <a:pt x="53257" y="11679"/>
                    <a:pt x="81452" y="0"/>
                    <a:pt x="110852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1199" cy="1029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81807" y="4213367"/>
            <a:ext cx="2013663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Use newsletters, emails, and meetings to promote the program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19681" y="3127724"/>
            <a:ext cx="25142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Incentives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619681" y="3675705"/>
            <a:ext cx="2514238" cy="2677429"/>
            <a:chOff x="0" y="0"/>
            <a:chExt cx="931199" cy="991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199" cy="991640"/>
            </a:xfrm>
            <a:custGeom>
              <a:avLst/>
              <a:gdLst/>
              <a:ahLst/>
              <a:cxnLst/>
              <a:rect r="r" b="b" t="t" l="l"/>
              <a:pathLst>
                <a:path h="991640" w="931199">
                  <a:moveTo>
                    <a:pt x="110852" y="0"/>
                  </a:moveTo>
                  <a:lnTo>
                    <a:pt x="820347" y="0"/>
                  </a:lnTo>
                  <a:cubicBezTo>
                    <a:pt x="881569" y="0"/>
                    <a:pt x="931199" y="49630"/>
                    <a:pt x="931199" y="110852"/>
                  </a:cubicBezTo>
                  <a:lnTo>
                    <a:pt x="931199" y="880788"/>
                  </a:lnTo>
                  <a:cubicBezTo>
                    <a:pt x="931199" y="910188"/>
                    <a:pt x="919520" y="938384"/>
                    <a:pt x="898731" y="959172"/>
                  </a:cubicBezTo>
                  <a:cubicBezTo>
                    <a:pt x="877943" y="979961"/>
                    <a:pt x="849747" y="991640"/>
                    <a:pt x="820347" y="991640"/>
                  </a:cubicBezTo>
                  <a:lnTo>
                    <a:pt x="110852" y="991640"/>
                  </a:lnTo>
                  <a:cubicBezTo>
                    <a:pt x="81452" y="991640"/>
                    <a:pt x="53257" y="979961"/>
                    <a:pt x="32468" y="959172"/>
                  </a:cubicBezTo>
                  <a:cubicBezTo>
                    <a:pt x="11679" y="938384"/>
                    <a:pt x="0" y="910188"/>
                    <a:pt x="0" y="880788"/>
                  </a:cubicBezTo>
                  <a:lnTo>
                    <a:pt x="0" y="110852"/>
                  </a:lnTo>
                  <a:cubicBezTo>
                    <a:pt x="0" y="81452"/>
                    <a:pt x="11679" y="53257"/>
                    <a:pt x="32468" y="32468"/>
                  </a:cubicBezTo>
                  <a:cubicBezTo>
                    <a:pt x="53257" y="11679"/>
                    <a:pt x="81452" y="0"/>
                    <a:pt x="110852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31199" cy="1029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869968" y="4370530"/>
            <a:ext cx="2013663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Offer rewards or recognition for participation and achievement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07842" y="3127724"/>
            <a:ext cx="25142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Engagement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7842" y="3675705"/>
            <a:ext cx="2514238" cy="2677429"/>
            <a:chOff x="0" y="0"/>
            <a:chExt cx="931199" cy="991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1199" cy="991640"/>
            </a:xfrm>
            <a:custGeom>
              <a:avLst/>
              <a:gdLst/>
              <a:ahLst/>
              <a:cxnLst/>
              <a:rect r="r" b="b" t="t" l="l"/>
              <a:pathLst>
                <a:path h="991640" w="931199">
                  <a:moveTo>
                    <a:pt x="110852" y="0"/>
                  </a:moveTo>
                  <a:lnTo>
                    <a:pt x="820347" y="0"/>
                  </a:lnTo>
                  <a:cubicBezTo>
                    <a:pt x="881569" y="0"/>
                    <a:pt x="931199" y="49630"/>
                    <a:pt x="931199" y="110852"/>
                  </a:cubicBezTo>
                  <a:lnTo>
                    <a:pt x="931199" y="880788"/>
                  </a:lnTo>
                  <a:cubicBezTo>
                    <a:pt x="931199" y="910188"/>
                    <a:pt x="919520" y="938384"/>
                    <a:pt x="898731" y="959172"/>
                  </a:cubicBezTo>
                  <a:cubicBezTo>
                    <a:pt x="877943" y="979961"/>
                    <a:pt x="849747" y="991640"/>
                    <a:pt x="820347" y="991640"/>
                  </a:cubicBezTo>
                  <a:lnTo>
                    <a:pt x="110852" y="991640"/>
                  </a:lnTo>
                  <a:cubicBezTo>
                    <a:pt x="81452" y="991640"/>
                    <a:pt x="53257" y="979961"/>
                    <a:pt x="32468" y="959172"/>
                  </a:cubicBezTo>
                  <a:cubicBezTo>
                    <a:pt x="11679" y="938384"/>
                    <a:pt x="0" y="910188"/>
                    <a:pt x="0" y="880788"/>
                  </a:cubicBezTo>
                  <a:lnTo>
                    <a:pt x="0" y="110852"/>
                  </a:lnTo>
                  <a:cubicBezTo>
                    <a:pt x="0" y="81452"/>
                    <a:pt x="11679" y="53257"/>
                    <a:pt x="32468" y="32468"/>
                  </a:cubicBezTo>
                  <a:cubicBezTo>
                    <a:pt x="53257" y="11679"/>
                    <a:pt x="81452" y="0"/>
                    <a:pt x="110852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31199" cy="1029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758129" y="4056205"/>
            <a:ext cx="2013663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Create a supportive community through group activities and social events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7373710">
            <a:off x="7071360" y="-1028501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0"/>
                </a:moveTo>
                <a:lnTo>
                  <a:pt x="3901440" y="0"/>
                </a:lnTo>
                <a:lnTo>
                  <a:pt x="3901440" y="2617511"/>
                </a:lnTo>
                <a:lnTo>
                  <a:pt x="0" y="2617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8100000">
            <a:off x="-742889" y="542377"/>
            <a:ext cx="1798209" cy="2926080"/>
          </a:xfrm>
          <a:custGeom>
            <a:avLst/>
            <a:gdLst/>
            <a:ahLst/>
            <a:cxnLst/>
            <a:rect r="r" b="b" t="t" l="l"/>
            <a:pathLst>
              <a:path h="2926080" w="1798209">
                <a:moveTo>
                  <a:pt x="1798210" y="0"/>
                </a:moveTo>
                <a:lnTo>
                  <a:pt x="0" y="0"/>
                </a:lnTo>
                <a:lnTo>
                  <a:pt x="0" y="2926080"/>
                </a:lnTo>
                <a:lnTo>
                  <a:pt x="1798210" y="2926080"/>
                </a:lnTo>
                <a:lnTo>
                  <a:pt x="17982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88639" y="731520"/>
            <a:ext cx="589653" cy="582148"/>
          </a:xfrm>
          <a:custGeom>
            <a:avLst/>
            <a:gdLst/>
            <a:ahLst/>
            <a:cxnLst/>
            <a:rect r="r" b="b" t="t" l="l"/>
            <a:pathLst>
              <a:path h="582148" w="589653">
                <a:moveTo>
                  <a:pt x="0" y="0"/>
                </a:moveTo>
                <a:lnTo>
                  <a:pt x="589653" y="0"/>
                </a:lnTo>
                <a:lnTo>
                  <a:pt x="589653" y="582148"/>
                </a:lnTo>
                <a:lnTo>
                  <a:pt x="0" y="582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343156" y="6781759"/>
            <a:ext cx="1041128" cy="1027877"/>
          </a:xfrm>
          <a:custGeom>
            <a:avLst/>
            <a:gdLst/>
            <a:ahLst/>
            <a:cxnLst/>
            <a:rect r="r" b="b" t="t" l="l"/>
            <a:pathLst>
              <a:path h="1027877" w="1041128">
                <a:moveTo>
                  <a:pt x="0" y="0"/>
                </a:moveTo>
                <a:lnTo>
                  <a:pt x="1041127" y="0"/>
                </a:lnTo>
                <a:lnTo>
                  <a:pt x="1041127" y="1027877"/>
                </a:lnTo>
                <a:lnTo>
                  <a:pt x="0" y="1027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4002" y="2593968"/>
            <a:ext cx="5868078" cy="1256284"/>
            <a:chOff x="0" y="0"/>
            <a:chExt cx="2173362" cy="4652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3362" cy="465290"/>
            </a:xfrm>
            <a:custGeom>
              <a:avLst/>
              <a:gdLst/>
              <a:ahLst/>
              <a:cxnLst/>
              <a:rect r="r" b="b" t="t" l="l"/>
              <a:pathLst>
                <a:path h="465290" w="2173362">
                  <a:moveTo>
                    <a:pt x="47496" y="0"/>
                  </a:moveTo>
                  <a:lnTo>
                    <a:pt x="2125866" y="0"/>
                  </a:lnTo>
                  <a:cubicBezTo>
                    <a:pt x="2152098" y="0"/>
                    <a:pt x="2173362" y="21265"/>
                    <a:pt x="2173362" y="47496"/>
                  </a:cubicBezTo>
                  <a:lnTo>
                    <a:pt x="2173362" y="417795"/>
                  </a:lnTo>
                  <a:cubicBezTo>
                    <a:pt x="2173362" y="430391"/>
                    <a:pt x="2168358" y="442472"/>
                    <a:pt x="2159451" y="451379"/>
                  </a:cubicBezTo>
                  <a:cubicBezTo>
                    <a:pt x="2150544" y="460286"/>
                    <a:pt x="2138463" y="465290"/>
                    <a:pt x="2125866" y="465290"/>
                  </a:cubicBezTo>
                  <a:lnTo>
                    <a:pt x="47496" y="465290"/>
                  </a:lnTo>
                  <a:cubicBezTo>
                    <a:pt x="21265" y="465290"/>
                    <a:pt x="0" y="444026"/>
                    <a:pt x="0" y="417795"/>
                  </a:cubicBezTo>
                  <a:lnTo>
                    <a:pt x="0" y="47496"/>
                  </a:lnTo>
                  <a:cubicBezTo>
                    <a:pt x="0" y="34899"/>
                    <a:pt x="5004" y="22818"/>
                    <a:pt x="13911" y="13911"/>
                  </a:cubicBezTo>
                  <a:cubicBezTo>
                    <a:pt x="22818" y="5004"/>
                    <a:pt x="34899" y="0"/>
                    <a:pt x="47496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3362" cy="503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2593968"/>
            <a:ext cx="3168702" cy="1256284"/>
            <a:chOff x="0" y="0"/>
            <a:chExt cx="1173593" cy="465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3593" cy="465290"/>
            </a:xfrm>
            <a:custGeom>
              <a:avLst/>
              <a:gdLst/>
              <a:ahLst/>
              <a:cxnLst/>
              <a:rect r="r" b="b" t="t" l="l"/>
              <a:pathLst>
                <a:path h="465290" w="1173593">
                  <a:moveTo>
                    <a:pt x="87957" y="0"/>
                  </a:moveTo>
                  <a:lnTo>
                    <a:pt x="1085636" y="0"/>
                  </a:lnTo>
                  <a:cubicBezTo>
                    <a:pt x="1108964" y="0"/>
                    <a:pt x="1131336" y="9267"/>
                    <a:pt x="1147831" y="25762"/>
                  </a:cubicBezTo>
                  <a:cubicBezTo>
                    <a:pt x="1164326" y="42257"/>
                    <a:pt x="1173593" y="64629"/>
                    <a:pt x="1173593" y="87957"/>
                  </a:cubicBezTo>
                  <a:lnTo>
                    <a:pt x="1173593" y="377334"/>
                  </a:lnTo>
                  <a:cubicBezTo>
                    <a:pt x="1173593" y="400661"/>
                    <a:pt x="1164326" y="423033"/>
                    <a:pt x="1147831" y="439528"/>
                  </a:cubicBezTo>
                  <a:cubicBezTo>
                    <a:pt x="1131336" y="456024"/>
                    <a:pt x="1108964" y="465290"/>
                    <a:pt x="1085636" y="465290"/>
                  </a:cubicBezTo>
                  <a:lnTo>
                    <a:pt x="87957" y="465290"/>
                  </a:lnTo>
                  <a:cubicBezTo>
                    <a:pt x="64629" y="465290"/>
                    <a:pt x="42257" y="456024"/>
                    <a:pt x="25762" y="439528"/>
                  </a:cubicBezTo>
                  <a:cubicBezTo>
                    <a:pt x="9267" y="423033"/>
                    <a:pt x="0" y="400661"/>
                    <a:pt x="0" y="377334"/>
                  </a:cubicBezTo>
                  <a:lnTo>
                    <a:pt x="0" y="87957"/>
                  </a:lnTo>
                  <a:cubicBezTo>
                    <a:pt x="0" y="64629"/>
                    <a:pt x="9267" y="42257"/>
                    <a:pt x="25762" y="25762"/>
                  </a:cubicBezTo>
                  <a:cubicBezTo>
                    <a:pt x="42257" y="9267"/>
                    <a:pt x="64629" y="0"/>
                    <a:pt x="87957" y="0"/>
                  </a:cubicBezTo>
                  <a:close/>
                </a:path>
              </a:pathLst>
            </a:custGeom>
            <a:solidFill>
              <a:srgbClr val="15666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73593" cy="503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54002" y="3960682"/>
            <a:ext cx="5868078" cy="1256284"/>
            <a:chOff x="0" y="0"/>
            <a:chExt cx="2173362" cy="4652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362" cy="465290"/>
            </a:xfrm>
            <a:custGeom>
              <a:avLst/>
              <a:gdLst/>
              <a:ahLst/>
              <a:cxnLst/>
              <a:rect r="r" b="b" t="t" l="l"/>
              <a:pathLst>
                <a:path h="465290" w="2173362">
                  <a:moveTo>
                    <a:pt x="47496" y="0"/>
                  </a:moveTo>
                  <a:lnTo>
                    <a:pt x="2125866" y="0"/>
                  </a:lnTo>
                  <a:cubicBezTo>
                    <a:pt x="2152098" y="0"/>
                    <a:pt x="2173362" y="21265"/>
                    <a:pt x="2173362" y="47496"/>
                  </a:cubicBezTo>
                  <a:lnTo>
                    <a:pt x="2173362" y="417795"/>
                  </a:lnTo>
                  <a:cubicBezTo>
                    <a:pt x="2173362" y="430391"/>
                    <a:pt x="2168358" y="442472"/>
                    <a:pt x="2159451" y="451379"/>
                  </a:cubicBezTo>
                  <a:cubicBezTo>
                    <a:pt x="2150544" y="460286"/>
                    <a:pt x="2138463" y="465290"/>
                    <a:pt x="2125866" y="465290"/>
                  </a:cubicBezTo>
                  <a:lnTo>
                    <a:pt x="47496" y="465290"/>
                  </a:lnTo>
                  <a:cubicBezTo>
                    <a:pt x="21265" y="465290"/>
                    <a:pt x="0" y="444026"/>
                    <a:pt x="0" y="417795"/>
                  </a:cubicBezTo>
                  <a:lnTo>
                    <a:pt x="0" y="47496"/>
                  </a:lnTo>
                  <a:cubicBezTo>
                    <a:pt x="0" y="34899"/>
                    <a:pt x="5004" y="22818"/>
                    <a:pt x="13911" y="13911"/>
                  </a:cubicBezTo>
                  <a:cubicBezTo>
                    <a:pt x="22818" y="5004"/>
                    <a:pt x="34899" y="0"/>
                    <a:pt x="47496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73362" cy="503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306867">
            <a:off x="-2426775" y="4198155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0"/>
                </a:moveTo>
                <a:lnTo>
                  <a:pt x="3901440" y="0"/>
                </a:lnTo>
                <a:lnTo>
                  <a:pt x="3901440" y="2617511"/>
                </a:lnTo>
                <a:lnTo>
                  <a:pt x="0" y="2617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31520" y="3960682"/>
            <a:ext cx="3168702" cy="1256284"/>
            <a:chOff x="0" y="0"/>
            <a:chExt cx="1173593" cy="4652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3593" cy="465290"/>
            </a:xfrm>
            <a:custGeom>
              <a:avLst/>
              <a:gdLst/>
              <a:ahLst/>
              <a:cxnLst/>
              <a:rect r="r" b="b" t="t" l="l"/>
              <a:pathLst>
                <a:path h="465290" w="1173593">
                  <a:moveTo>
                    <a:pt x="87957" y="0"/>
                  </a:moveTo>
                  <a:lnTo>
                    <a:pt x="1085636" y="0"/>
                  </a:lnTo>
                  <a:cubicBezTo>
                    <a:pt x="1108964" y="0"/>
                    <a:pt x="1131336" y="9267"/>
                    <a:pt x="1147831" y="25762"/>
                  </a:cubicBezTo>
                  <a:cubicBezTo>
                    <a:pt x="1164326" y="42257"/>
                    <a:pt x="1173593" y="64629"/>
                    <a:pt x="1173593" y="87957"/>
                  </a:cubicBezTo>
                  <a:lnTo>
                    <a:pt x="1173593" y="377334"/>
                  </a:lnTo>
                  <a:cubicBezTo>
                    <a:pt x="1173593" y="400661"/>
                    <a:pt x="1164326" y="423033"/>
                    <a:pt x="1147831" y="439528"/>
                  </a:cubicBezTo>
                  <a:cubicBezTo>
                    <a:pt x="1131336" y="456024"/>
                    <a:pt x="1108964" y="465290"/>
                    <a:pt x="1085636" y="465290"/>
                  </a:cubicBezTo>
                  <a:lnTo>
                    <a:pt x="87957" y="465290"/>
                  </a:lnTo>
                  <a:cubicBezTo>
                    <a:pt x="64629" y="465290"/>
                    <a:pt x="42257" y="456024"/>
                    <a:pt x="25762" y="439528"/>
                  </a:cubicBezTo>
                  <a:cubicBezTo>
                    <a:pt x="9267" y="423033"/>
                    <a:pt x="0" y="400661"/>
                    <a:pt x="0" y="377334"/>
                  </a:cubicBezTo>
                  <a:lnTo>
                    <a:pt x="0" y="87957"/>
                  </a:lnTo>
                  <a:cubicBezTo>
                    <a:pt x="0" y="64629"/>
                    <a:pt x="9267" y="42257"/>
                    <a:pt x="25762" y="25762"/>
                  </a:cubicBezTo>
                  <a:cubicBezTo>
                    <a:pt x="42257" y="9267"/>
                    <a:pt x="64629" y="0"/>
                    <a:pt x="87957" y="0"/>
                  </a:cubicBezTo>
                  <a:close/>
                </a:path>
              </a:pathLst>
            </a:custGeom>
            <a:solidFill>
              <a:srgbClr val="15666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73593" cy="503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154002" y="5327396"/>
            <a:ext cx="5868078" cy="1256284"/>
            <a:chOff x="0" y="0"/>
            <a:chExt cx="2173362" cy="4652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362" cy="465290"/>
            </a:xfrm>
            <a:custGeom>
              <a:avLst/>
              <a:gdLst/>
              <a:ahLst/>
              <a:cxnLst/>
              <a:rect r="r" b="b" t="t" l="l"/>
              <a:pathLst>
                <a:path h="465290" w="2173362">
                  <a:moveTo>
                    <a:pt x="47496" y="0"/>
                  </a:moveTo>
                  <a:lnTo>
                    <a:pt x="2125866" y="0"/>
                  </a:lnTo>
                  <a:cubicBezTo>
                    <a:pt x="2152098" y="0"/>
                    <a:pt x="2173362" y="21265"/>
                    <a:pt x="2173362" y="47496"/>
                  </a:cubicBezTo>
                  <a:lnTo>
                    <a:pt x="2173362" y="417795"/>
                  </a:lnTo>
                  <a:cubicBezTo>
                    <a:pt x="2173362" y="430391"/>
                    <a:pt x="2168358" y="442472"/>
                    <a:pt x="2159451" y="451379"/>
                  </a:cubicBezTo>
                  <a:cubicBezTo>
                    <a:pt x="2150544" y="460286"/>
                    <a:pt x="2138463" y="465290"/>
                    <a:pt x="2125866" y="465290"/>
                  </a:cubicBezTo>
                  <a:lnTo>
                    <a:pt x="47496" y="465290"/>
                  </a:lnTo>
                  <a:cubicBezTo>
                    <a:pt x="21265" y="465290"/>
                    <a:pt x="0" y="444026"/>
                    <a:pt x="0" y="417795"/>
                  </a:cubicBezTo>
                  <a:lnTo>
                    <a:pt x="0" y="47496"/>
                  </a:lnTo>
                  <a:cubicBezTo>
                    <a:pt x="0" y="34899"/>
                    <a:pt x="5004" y="22818"/>
                    <a:pt x="13911" y="13911"/>
                  </a:cubicBezTo>
                  <a:cubicBezTo>
                    <a:pt x="22818" y="5004"/>
                    <a:pt x="34899" y="0"/>
                    <a:pt x="47496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3362" cy="503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1520" y="5327396"/>
            <a:ext cx="3168702" cy="1256284"/>
            <a:chOff x="0" y="0"/>
            <a:chExt cx="1173593" cy="4652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3593" cy="465290"/>
            </a:xfrm>
            <a:custGeom>
              <a:avLst/>
              <a:gdLst/>
              <a:ahLst/>
              <a:cxnLst/>
              <a:rect r="r" b="b" t="t" l="l"/>
              <a:pathLst>
                <a:path h="465290" w="1173593">
                  <a:moveTo>
                    <a:pt x="87957" y="0"/>
                  </a:moveTo>
                  <a:lnTo>
                    <a:pt x="1085636" y="0"/>
                  </a:lnTo>
                  <a:cubicBezTo>
                    <a:pt x="1108964" y="0"/>
                    <a:pt x="1131336" y="9267"/>
                    <a:pt x="1147831" y="25762"/>
                  </a:cubicBezTo>
                  <a:cubicBezTo>
                    <a:pt x="1164326" y="42257"/>
                    <a:pt x="1173593" y="64629"/>
                    <a:pt x="1173593" y="87957"/>
                  </a:cubicBezTo>
                  <a:lnTo>
                    <a:pt x="1173593" y="377334"/>
                  </a:lnTo>
                  <a:cubicBezTo>
                    <a:pt x="1173593" y="400661"/>
                    <a:pt x="1164326" y="423033"/>
                    <a:pt x="1147831" y="439528"/>
                  </a:cubicBezTo>
                  <a:cubicBezTo>
                    <a:pt x="1131336" y="456024"/>
                    <a:pt x="1108964" y="465290"/>
                    <a:pt x="1085636" y="465290"/>
                  </a:cubicBezTo>
                  <a:lnTo>
                    <a:pt x="87957" y="465290"/>
                  </a:lnTo>
                  <a:cubicBezTo>
                    <a:pt x="64629" y="465290"/>
                    <a:pt x="42257" y="456024"/>
                    <a:pt x="25762" y="439528"/>
                  </a:cubicBezTo>
                  <a:cubicBezTo>
                    <a:pt x="9267" y="423033"/>
                    <a:pt x="0" y="400661"/>
                    <a:pt x="0" y="377334"/>
                  </a:cubicBezTo>
                  <a:lnTo>
                    <a:pt x="0" y="87957"/>
                  </a:lnTo>
                  <a:cubicBezTo>
                    <a:pt x="0" y="64629"/>
                    <a:pt x="9267" y="42257"/>
                    <a:pt x="25762" y="25762"/>
                  </a:cubicBezTo>
                  <a:cubicBezTo>
                    <a:pt x="42257" y="9267"/>
                    <a:pt x="64629" y="0"/>
                    <a:pt x="87957" y="0"/>
                  </a:cubicBezTo>
                  <a:close/>
                </a:path>
              </a:pathLst>
            </a:custGeom>
            <a:solidFill>
              <a:srgbClr val="15666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73593" cy="503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761892">
            <a:off x="7409533" y="433606"/>
            <a:ext cx="1178120" cy="1678669"/>
          </a:xfrm>
          <a:custGeom>
            <a:avLst/>
            <a:gdLst/>
            <a:ahLst/>
            <a:cxnLst/>
            <a:rect r="r" b="b" t="t" l="l"/>
            <a:pathLst>
              <a:path h="1678669" w="1178120">
                <a:moveTo>
                  <a:pt x="0" y="0"/>
                </a:moveTo>
                <a:lnTo>
                  <a:pt x="1178121" y="0"/>
                </a:lnTo>
                <a:lnTo>
                  <a:pt x="1178121" y="1678668"/>
                </a:lnTo>
                <a:lnTo>
                  <a:pt x="0" y="1678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8494270">
            <a:off x="-304590" y="-1304448"/>
            <a:ext cx="1776525" cy="3334773"/>
          </a:xfrm>
          <a:custGeom>
            <a:avLst/>
            <a:gdLst/>
            <a:ahLst/>
            <a:cxnLst/>
            <a:rect r="r" b="b" t="t" l="l"/>
            <a:pathLst>
              <a:path h="3334773" w="1776525">
                <a:moveTo>
                  <a:pt x="0" y="0"/>
                </a:moveTo>
                <a:lnTo>
                  <a:pt x="1776525" y="0"/>
                </a:lnTo>
                <a:lnTo>
                  <a:pt x="1776525" y="3334774"/>
                </a:lnTo>
                <a:lnTo>
                  <a:pt x="0" y="33347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502745" y="883920"/>
            <a:ext cx="474811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56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Measuring Success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8752" y="3109715"/>
            <a:ext cx="25142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Key Metrics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11898" y="2892545"/>
            <a:ext cx="454584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Track participation rates, health improvements, and employee feedback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8752" y="4343079"/>
            <a:ext cx="2514238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Surveys and Feedback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11898" y="4102097"/>
            <a:ext cx="4545848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Collect feedback from participants to assess program impact and areas for improvement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8752" y="5843143"/>
            <a:ext cx="251423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4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Health Outcomes: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11898" y="5468810"/>
            <a:ext cx="4545848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Measure changes in health indicators such as reduced sick days and lower healthcare costs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6574444">
            <a:off x="8450528" y="5650728"/>
            <a:ext cx="1798209" cy="2926080"/>
          </a:xfrm>
          <a:custGeom>
            <a:avLst/>
            <a:gdLst/>
            <a:ahLst/>
            <a:cxnLst/>
            <a:rect r="r" b="b" t="t" l="l"/>
            <a:pathLst>
              <a:path h="2926080" w="1798209">
                <a:moveTo>
                  <a:pt x="0" y="0"/>
                </a:moveTo>
                <a:lnTo>
                  <a:pt x="1798210" y="0"/>
                </a:lnTo>
                <a:lnTo>
                  <a:pt x="1798210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83568" y="1620032"/>
            <a:ext cx="533045" cy="526261"/>
          </a:xfrm>
          <a:custGeom>
            <a:avLst/>
            <a:gdLst/>
            <a:ahLst/>
            <a:cxnLst/>
            <a:rect r="r" b="b" t="t" l="l"/>
            <a:pathLst>
              <a:path h="526261" w="533045">
                <a:moveTo>
                  <a:pt x="0" y="0"/>
                </a:moveTo>
                <a:lnTo>
                  <a:pt x="533045" y="0"/>
                </a:lnTo>
                <a:lnTo>
                  <a:pt x="533045" y="526261"/>
                </a:lnTo>
                <a:lnTo>
                  <a:pt x="0" y="526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755558" y="4325694"/>
            <a:ext cx="533045" cy="526261"/>
          </a:xfrm>
          <a:custGeom>
            <a:avLst/>
            <a:gdLst/>
            <a:ahLst/>
            <a:cxnLst/>
            <a:rect r="r" b="b" t="t" l="l"/>
            <a:pathLst>
              <a:path h="526261" w="533045">
                <a:moveTo>
                  <a:pt x="0" y="0"/>
                </a:moveTo>
                <a:lnTo>
                  <a:pt x="533044" y="0"/>
                </a:lnTo>
                <a:lnTo>
                  <a:pt x="533044" y="526260"/>
                </a:lnTo>
                <a:lnTo>
                  <a:pt x="0" y="526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44903" y="3291638"/>
            <a:ext cx="10952963" cy="1846716"/>
            <a:chOff x="0" y="0"/>
            <a:chExt cx="14603951" cy="2462289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2419843" y="-2419843"/>
              <a:ext cx="2462289" cy="7301975"/>
            </a:xfrm>
            <a:custGeom>
              <a:avLst/>
              <a:gdLst/>
              <a:ahLst/>
              <a:cxnLst/>
              <a:rect r="r" b="b" t="t" l="l"/>
              <a:pathLst>
                <a:path h="7301975" w="2462289">
                  <a:moveTo>
                    <a:pt x="0" y="0"/>
                  </a:moveTo>
                  <a:lnTo>
                    <a:pt x="2462289" y="0"/>
                  </a:lnTo>
                  <a:lnTo>
                    <a:pt x="2462289" y="7301975"/>
                  </a:lnTo>
                  <a:lnTo>
                    <a:pt x="0" y="730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5852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-5400000">
              <a:off x="9721819" y="-2419843"/>
              <a:ext cx="2462289" cy="7301975"/>
            </a:xfrm>
            <a:custGeom>
              <a:avLst/>
              <a:gdLst/>
              <a:ahLst/>
              <a:cxnLst/>
              <a:rect r="r" b="b" t="t" l="l"/>
              <a:pathLst>
                <a:path h="7301975" w="2462289">
                  <a:moveTo>
                    <a:pt x="0" y="7301975"/>
                  </a:moveTo>
                  <a:lnTo>
                    <a:pt x="2462288" y="7301975"/>
                  </a:lnTo>
                  <a:lnTo>
                    <a:pt x="2462288" y="0"/>
                  </a:lnTo>
                  <a:lnTo>
                    <a:pt x="0" y="0"/>
                  </a:lnTo>
                  <a:lnTo>
                    <a:pt x="0" y="730197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585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-1440597" y="538795"/>
            <a:ext cx="8507264" cy="6220084"/>
            <a:chOff x="0" y="0"/>
            <a:chExt cx="3150838" cy="23037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50838" cy="2303735"/>
            </a:xfrm>
            <a:custGeom>
              <a:avLst/>
              <a:gdLst/>
              <a:ahLst/>
              <a:cxnLst/>
              <a:rect r="r" b="b" t="t" l="l"/>
              <a:pathLst>
                <a:path h="2303735" w="3150838">
                  <a:moveTo>
                    <a:pt x="32761" y="0"/>
                  </a:moveTo>
                  <a:lnTo>
                    <a:pt x="3118077" y="0"/>
                  </a:lnTo>
                  <a:cubicBezTo>
                    <a:pt x="3126766" y="0"/>
                    <a:pt x="3135099" y="3452"/>
                    <a:pt x="3141243" y="9596"/>
                  </a:cubicBezTo>
                  <a:cubicBezTo>
                    <a:pt x="3147387" y="15740"/>
                    <a:pt x="3150838" y="24072"/>
                    <a:pt x="3150838" y="32761"/>
                  </a:cubicBezTo>
                  <a:lnTo>
                    <a:pt x="3150838" y="2270973"/>
                  </a:lnTo>
                  <a:cubicBezTo>
                    <a:pt x="3150838" y="2279662"/>
                    <a:pt x="3147387" y="2287995"/>
                    <a:pt x="3141243" y="2294139"/>
                  </a:cubicBezTo>
                  <a:cubicBezTo>
                    <a:pt x="3135099" y="2300283"/>
                    <a:pt x="3126766" y="2303735"/>
                    <a:pt x="3118077" y="2303735"/>
                  </a:cubicBezTo>
                  <a:lnTo>
                    <a:pt x="32761" y="2303735"/>
                  </a:lnTo>
                  <a:cubicBezTo>
                    <a:pt x="14668" y="2303735"/>
                    <a:pt x="0" y="2289067"/>
                    <a:pt x="0" y="2270973"/>
                  </a:cubicBezTo>
                  <a:lnTo>
                    <a:pt x="0" y="32761"/>
                  </a:lnTo>
                  <a:cubicBezTo>
                    <a:pt x="0" y="24072"/>
                    <a:pt x="3452" y="15740"/>
                    <a:pt x="9596" y="9596"/>
                  </a:cubicBezTo>
                  <a:cubicBezTo>
                    <a:pt x="15740" y="3452"/>
                    <a:pt x="24072" y="0"/>
                    <a:pt x="32761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50838" cy="2341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844647">
            <a:off x="8056224" y="1592223"/>
            <a:ext cx="2397275" cy="2366764"/>
          </a:xfrm>
          <a:custGeom>
            <a:avLst/>
            <a:gdLst/>
            <a:ahLst/>
            <a:cxnLst/>
            <a:rect r="r" b="b" t="t" l="l"/>
            <a:pathLst>
              <a:path h="2366764" w="2397275">
                <a:moveTo>
                  <a:pt x="0" y="0"/>
                </a:moveTo>
                <a:lnTo>
                  <a:pt x="2397275" y="0"/>
                </a:lnTo>
                <a:lnTo>
                  <a:pt x="2397275" y="2366764"/>
                </a:lnTo>
                <a:lnTo>
                  <a:pt x="0" y="2366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14236">
            <a:off x="6197132" y="4859885"/>
            <a:ext cx="1578507" cy="3807802"/>
          </a:xfrm>
          <a:custGeom>
            <a:avLst/>
            <a:gdLst/>
            <a:ahLst/>
            <a:cxnLst/>
            <a:rect r="r" b="b" t="t" l="l"/>
            <a:pathLst>
              <a:path h="3807802" w="1578507">
                <a:moveTo>
                  <a:pt x="0" y="0"/>
                </a:moveTo>
                <a:lnTo>
                  <a:pt x="1578507" y="0"/>
                </a:lnTo>
                <a:lnTo>
                  <a:pt x="1578507" y="3807802"/>
                </a:lnTo>
                <a:lnTo>
                  <a:pt x="0" y="38078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6477" y="1181759"/>
            <a:ext cx="4481244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56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Challenges and Solutions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477" y="3183438"/>
            <a:ext cx="173126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Challenges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477" y="3593966"/>
            <a:ext cx="470337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Low participation rates, limited resources or budget and resistance to change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477" y="4625633"/>
            <a:ext cx="173126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4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477" y="5036161"/>
            <a:ext cx="448124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Tailor programs to address specific needs, utilize cost-effective resources and partnerships and foster a culture that values health and wellness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27611" y="4738028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0"/>
                </a:moveTo>
                <a:lnTo>
                  <a:pt x="3901440" y="0"/>
                </a:lnTo>
                <a:lnTo>
                  <a:pt x="3901440" y="2617512"/>
                </a:lnTo>
                <a:lnTo>
                  <a:pt x="0" y="2617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4869547">
            <a:off x="4540321" y="-1913551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2617512"/>
                </a:moveTo>
                <a:lnTo>
                  <a:pt x="3901440" y="2617512"/>
                </a:lnTo>
                <a:lnTo>
                  <a:pt x="3901440" y="0"/>
                </a:lnTo>
                <a:lnTo>
                  <a:pt x="0" y="0"/>
                </a:lnTo>
                <a:lnTo>
                  <a:pt x="0" y="261751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214731" y="3632457"/>
            <a:ext cx="589653" cy="582148"/>
          </a:xfrm>
          <a:custGeom>
            <a:avLst/>
            <a:gdLst/>
            <a:ahLst/>
            <a:cxnLst/>
            <a:rect r="r" b="b" t="t" l="l"/>
            <a:pathLst>
              <a:path h="582148" w="589653">
                <a:moveTo>
                  <a:pt x="0" y="0"/>
                </a:moveTo>
                <a:lnTo>
                  <a:pt x="589653" y="0"/>
                </a:lnTo>
                <a:lnTo>
                  <a:pt x="589653" y="582148"/>
                </a:lnTo>
                <a:lnTo>
                  <a:pt x="0" y="5821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6672" y="5481265"/>
            <a:ext cx="1242762" cy="2454792"/>
          </a:xfrm>
          <a:custGeom>
            <a:avLst/>
            <a:gdLst/>
            <a:ahLst/>
            <a:cxnLst/>
            <a:rect r="r" b="b" t="t" l="l"/>
            <a:pathLst>
              <a:path h="2454792" w="1242762">
                <a:moveTo>
                  <a:pt x="0" y="0"/>
                </a:moveTo>
                <a:lnTo>
                  <a:pt x="1242763" y="0"/>
                </a:lnTo>
                <a:lnTo>
                  <a:pt x="1242763" y="2454792"/>
                </a:lnTo>
                <a:lnTo>
                  <a:pt x="0" y="2454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2529" t="-74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87005">
            <a:off x="1158406" y="3634055"/>
            <a:ext cx="1242762" cy="2428787"/>
          </a:xfrm>
          <a:custGeom>
            <a:avLst/>
            <a:gdLst/>
            <a:ahLst/>
            <a:cxnLst/>
            <a:rect r="r" b="b" t="t" l="l"/>
            <a:pathLst>
              <a:path h="2428787" w="1242762">
                <a:moveTo>
                  <a:pt x="0" y="0"/>
                </a:moveTo>
                <a:lnTo>
                  <a:pt x="1242762" y="0"/>
                </a:lnTo>
                <a:lnTo>
                  <a:pt x="1242762" y="2428787"/>
                </a:lnTo>
                <a:lnTo>
                  <a:pt x="0" y="2428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02529" b="-856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1220">
            <a:off x="763116" y="1015827"/>
            <a:ext cx="3113578" cy="2270081"/>
          </a:xfrm>
          <a:custGeom>
            <a:avLst/>
            <a:gdLst/>
            <a:ahLst/>
            <a:cxnLst/>
            <a:rect r="r" b="b" t="t" l="l"/>
            <a:pathLst>
              <a:path h="2270081" w="3113578">
                <a:moveTo>
                  <a:pt x="0" y="0"/>
                </a:moveTo>
                <a:lnTo>
                  <a:pt x="3113578" y="0"/>
                </a:lnTo>
                <a:lnTo>
                  <a:pt x="3113578" y="2270082"/>
                </a:lnTo>
                <a:lnTo>
                  <a:pt x="0" y="2270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07651" y="2860986"/>
            <a:ext cx="3810323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56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7651" y="3852558"/>
            <a:ext cx="4248875" cy="219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olway"/>
                <a:ea typeface="Solway"/>
                <a:cs typeface="Solway"/>
                <a:sym typeface="Solway"/>
              </a:rPr>
              <a:t>Health and wellness programs enhance physical and mental well-being, support productivity, and reduce healthcare costs. Key to success includes a comprehensive program design, encouraging participation, and regular evaluation.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485945">
            <a:off x="4651853" y="-618666"/>
            <a:ext cx="1798209" cy="2926080"/>
          </a:xfrm>
          <a:custGeom>
            <a:avLst/>
            <a:gdLst/>
            <a:ahLst/>
            <a:cxnLst/>
            <a:rect r="r" b="b" t="t" l="l"/>
            <a:pathLst>
              <a:path h="2926080" w="1798209">
                <a:moveTo>
                  <a:pt x="0" y="0"/>
                </a:moveTo>
                <a:lnTo>
                  <a:pt x="1798209" y="0"/>
                </a:lnTo>
                <a:lnTo>
                  <a:pt x="1798209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23476" y="1244628"/>
            <a:ext cx="829654" cy="819095"/>
          </a:xfrm>
          <a:custGeom>
            <a:avLst/>
            <a:gdLst/>
            <a:ahLst/>
            <a:cxnLst/>
            <a:rect r="r" b="b" t="t" l="l"/>
            <a:pathLst>
              <a:path h="819095" w="829654">
                <a:moveTo>
                  <a:pt x="0" y="0"/>
                </a:moveTo>
                <a:lnTo>
                  <a:pt x="829654" y="0"/>
                </a:lnTo>
                <a:lnTo>
                  <a:pt x="829654" y="819096"/>
                </a:lnTo>
                <a:lnTo>
                  <a:pt x="0" y="8190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5389" y="4022175"/>
            <a:ext cx="2515878" cy="1106987"/>
          </a:xfrm>
          <a:custGeom>
            <a:avLst/>
            <a:gdLst/>
            <a:ahLst/>
            <a:cxnLst/>
            <a:rect r="r" b="b" t="t" l="l"/>
            <a:pathLst>
              <a:path h="1106987" w="2515878">
                <a:moveTo>
                  <a:pt x="0" y="0"/>
                </a:moveTo>
                <a:lnTo>
                  <a:pt x="2515879" y="0"/>
                </a:lnTo>
                <a:lnTo>
                  <a:pt x="2515879" y="1106987"/>
                </a:lnTo>
                <a:lnTo>
                  <a:pt x="0" y="1106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07781" y="5767337"/>
            <a:ext cx="11422219" cy="6514807"/>
            <a:chOff x="0" y="0"/>
            <a:chExt cx="4230452" cy="24128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30451" cy="2412891"/>
            </a:xfrm>
            <a:custGeom>
              <a:avLst/>
              <a:gdLst/>
              <a:ahLst/>
              <a:cxnLst/>
              <a:rect r="r" b="b" t="t" l="l"/>
              <a:pathLst>
                <a:path h="2412891" w="4230451">
                  <a:moveTo>
                    <a:pt x="2115226" y="0"/>
                  </a:moveTo>
                  <a:cubicBezTo>
                    <a:pt x="947019" y="0"/>
                    <a:pt x="0" y="540144"/>
                    <a:pt x="0" y="1206446"/>
                  </a:cubicBezTo>
                  <a:cubicBezTo>
                    <a:pt x="0" y="1872747"/>
                    <a:pt x="947019" y="2412891"/>
                    <a:pt x="2115226" y="2412891"/>
                  </a:cubicBezTo>
                  <a:cubicBezTo>
                    <a:pt x="3283433" y="2412891"/>
                    <a:pt x="4230451" y="1872747"/>
                    <a:pt x="4230451" y="1206446"/>
                  </a:cubicBezTo>
                  <a:cubicBezTo>
                    <a:pt x="4230451" y="540144"/>
                    <a:pt x="3283433" y="0"/>
                    <a:pt x="2115226" y="0"/>
                  </a:cubicBezTo>
                  <a:close/>
                </a:path>
              </a:pathLst>
            </a:custGeom>
            <a:solidFill>
              <a:srgbClr val="F4EC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396605" y="188109"/>
              <a:ext cx="3437242" cy="1998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84499">
            <a:off x="1352445" y="3762742"/>
            <a:ext cx="1497172" cy="1937517"/>
          </a:xfrm>
          <a:custGeom>
            <a:avLst/>
            <a:gdLst/>
            <a:ahLst/>
            <a:cxnLst/>
            <a:rect r="r" b="b" t="t" l="l"/>
            <a:pathLst>
              <a:path h="1937517" w="1497172">
                <a:moveTo>
                  <a:pt x="0" y="0"/>
                </a:moveTo>
                <a:lnTo>
                  <a:pt x="1497172" y="0"/>
                </a:lnTo>
                <a:lnTo>
                  <a:pt x="1497172" y="1937517"/>
                </a:lnTo>
                <a:lnTo>
                  <a:pt x="0" y="1937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89081">
            <a:off x="6798289" y="3763724"/>
            <a:ext cx="1625865" cy="1935553"/>
          </a:xfrm>
          <a:custGeom>
            <a:avLst/>
            <a:gdLst/>
            <a:ahLst/>
            <a:cxnLst/>
            <a:rect r="r" b="b" t="t" l="l"/>
            <a:pathLst>
              <a:path h="1935553" w="1625865">
                <a:moveTo>
                  <a:pt x="0" y="0"/>
                </a:moveTo>
                <a:lnTo>
                  <a:pt x="1625865" y="0"/>
                </a:lnTo>
                <a:lnTo>
                  <a:pt x="1625865" y="1935553"/>
                </a:lnTo>
                <a:lnTo>
                  <a:pt x="0" y="1935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503462">
            <a:off x="8675558" y="87575"/>
            <a:ext cx="1798209" cy="2926080"/>
          </a:xfrm>
          <a:custGeom>
            <a:avLst/>
            <a:gdLst/>
            <a:ahLst/>
            <a:cxnLst/>
            <a:rect r="r" b="b" t="t" l="l"/>
            <a:pathLst>
              <a:path h="2926080" w="1798209">
                <a:moveTo>
                  <a:pt x="0" y="0"/>
                </a:moveTo>
                <a:lnTo>
                  <a:pt x="1798209" y="0"/>
                </a:lnTo>
                <a:lnTo>
                  <a:pt x="1798209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130575" y="828628"/>
            <a:ext cx="731294" cy="721987"/>
          </a:xfrm>
          <a:custGeom>
            <a:avLst/>
            <a:gdLst/>
            <a:ahLst/>
            <a:cxnLst/>
            <a:rect r="r" b="b" t="t" l="l"/>
            <a:pathLst>
              <a:path h="721987" w="731294">
                <a:moveTo>
                  <a:pt x="731294" y="0"/>
                </a:moveTo>
                <a:lnTo>
                  <a:pt x="0" y="0"/>
                </a:lnTo>
                <a:lnTo>
                  <a:pt x="0" y="721987"/>
                </a:lnTo>
                <a:lnTo>
                  <a:pt x="731294" y="721987"/>
                </a:lnTo>
                <a:lnTo>
                  <a:pt x="73129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245868">
            <a:off x="-2567273" y="1093045"/>
            <a:ext cx="3901440" cy="2617512"/>
          </a:xfrm>
          <a:custGeom>
            <a:avLst/>
            <a:gdLst/>
            <a:ahLst/>
            <a:cxnLst/>
            <a:rect r="r" b="b" t="t" l="l"/>
            <a:pathLst>
              <a:path h="2617512" w="3901440">
                <a:moveTo>
                  <a:pt x="0" y="0"/>
                </a:moveTo>
                <a:lnTo>
                  <a:pt x="3901440" y="0"/>
                </a:lnTo>
                <a:lnTo>
                  <a:pt x="3901440" y="2617511"/>
                </a:lnTo>
                <a:lnTo>
                  <a:pt x="0" y="26175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07290" y="1743179"/>
            <a:ext cx="5739019" cy="156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9600">
                <a:solidFill>
                  <a:srgbClr val="156669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DAGSPHntd0s</dc:identifier>
  <dcterms:modified xsi:type="dcterms:W3CDTF">2011-08-01T06:04:30Z</dcterms:modified>
  <cp:revision>1</cp:revision>
  <dc:title>Pastel Colorful Illustration Health and Wellness Presentation</dc:title>
</cp:coreProperties>
</file>